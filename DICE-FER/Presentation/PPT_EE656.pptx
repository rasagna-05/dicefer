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lacial Indifference Bold" charset="1" panose="00000800000000000000"/>
      <p:regular r:id="rId18"/>
    </p:embeddedFont>
    <p:embeddedFont>
      <p:font typeface="Glacial Indifference" charset="1" panose="00000000000000000000"/>
      <p:regular r:id="rId19"/>
    </p:embeddedFont>
    <p:embeddedFont>
      <p:font typeface="Squada One" charset="1" panose="02000000000000000000"/>
      <p:regular r:id="rId20"/>
    </p:embeddedFont>
    <p:embeddedFont>
      <p:font typeface="DM Sans" charset="1" panose="00000000000000000000"/>
      <p:regular r:id="rId21"/>
    </p:embeddedFont>
    <p:embeddedFont>
      <p:font typeface="Open Sans Bold" charset="1" panose="020B0806030504020204"/>
      <p:regular r:id="rId22"/>
    </p:embeddedFont>
    <p:embeddedFont>
      <p:font typeface="Poppins Bold" charset="1" panose="00000800000000000000"/>
      <p:regular r:id="rId23"/>
    </p:embeddedFont>
    <p:embeddedFont>
      <p:font typeface="DM Sans Bold" charset="1" panose="00000000000000000000"/>
      <p:regular r:id="rId24"/>
    </p:embeddedFont>
    <p:embeddedFont>
      <p:font typeface="Atkinson Hyperlegible Italics" charset="1" panose="00000000000000000000"/>
      <p:regular r:id="rId25"/>
    </p:embeddedFont>
    <p:embeddedFont>
      <p:font typeface="Atkinson Hyperlegible Bold" charset="1" panose="00000000000000000000"/>
      <p:regular r:id="rId26"/>
    </p:embeddedFont>
    <p:embeddedFont>
      <p:font typeface="Canva Sans" charset="1" panose="020B0503030501040103"/>
      <p:regular r:id="rId27"/>
    </p:embeddedFont>
    <p:embeddedFont>
      <p:font typeface="Canva Sans Bold" charset="1" panose="020B0803030501040103"/>
      <p:regular r:id="rId28"/>
    </p:embeddedFont>
    <p:embeddedFont>
      <p:font typeface="Neue Machina Ultra-Bold" charset="1" panose="000009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jpeg" Type="http://schemas.openxmlformats.org/officeDocument/2006/relationships/image"/><Relationship Id="rId11" Target="../media/image38.jpeg" Type="http://schemas.openxmlformats.org/officeDocument/2006/relationships/image"/><Relationship Id="rId12" Target="../media/image39.jpeg" Type="http://schemas.openxmlformats.org/officeDocument/2006/relationships/image"/><Relationship Id="rId13" Target="../media/image40.jpeg" Type="http://schemas.openxmlformats.org/officeDocument/2006/relationships/image"/><Relationship Id="rId14" Target="../media/image41.jpeg" Type="http://schemas.openxmlformats.org/officeDocument/2006/relationships/image"/><Relationship Id="rId15" Target="../media/image42.jpeg" Type="http://schemas.openxmlformats.org/officeDocument/2006/relationships/image"/><Relationship Id="rId16" Target="../media/image43.png" Type="http://schemas.openxmlformats.org/officeDocument/2006/relationships/image"/><Relationship Id="rId17" Target="../media/image44.svg" Type="http://schemas.openxmlformats.org/officeDocument/2006/relationships/image"/><Relationship Id="rId2" Target="../media/image29.jpeg" Type="http://schemas.openxmlformats.org/officeDocument/2006/relationships/image"/><Relationship Id="rId3" Target="../media/image30.jpeg" Type="http://schemas.openxmlformats.org/officeDocument/2006/relationships/image"/><Relationship Id="rId4" Target="../media/image31.jpe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 Id="rId7" Target="../media/image34.jpeg" Type="http://schemas.openxmlformats.org/officeDocument/2006/relationships/image"/><Relationship Id="rId8" Target="../media/image35.jpeg" Type="http://schemas.openxmlformats.org/officeDocument/2006/relationships/image"/><Relationship Id="rId9" Target="../media/image3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B574"/>
        </a:solidFill>
      </p:bgPr>
    </p:bg>
    <p:spTree>
      <p:nvGrpSpPr>
        <p:cNvPr id="1" name=""/>
        <p:cNvGrpSpPr/>
        <p:nvPr/>
      </p:nvGrpSpPr>
      <p:grpSpPr>
        <a:xfrm>
          <a:off x="0" y="0"/>
          <a:ext cx="0" cy="0"/>
          <a:chOff x="0" y="0"/>
          <a:chExt cx="0" cy="0"/>
        </a:xfrm>
      </p:grpSpPr>
      <p:grpSp>
        <p:nvGrpSpPr>
          <p:cNvPr name="Group 2" id="2"/>
          <p:cNvGrpSpPr/>
          <p:nvPr/>
        </p:nvGrpSpPr>
        <p:grpSpPr>
          <a:xfrm rot="0">
            <a:off x="993023" y="1181100"/>
            <a:ext cx="16418677" cy="8229600"/>
            <a:chOff x="0" y="0"/>
            <a:chExt cx="4324260" cy="2167467"/>
          </a:xfrm>
        </p:grpSpPr>
        <p:sp>
          <p:nvSpPr>
            <p:cNvPr name="Freeform 3" id="3"/>
            <p:cNvSpPr/>
            <p:nvPr/>
          </p:nvSpPr>
          <p:spPr>
            <a:xfrm flipH="false" flipV="false" rot="0">
              <a:off x="0" y="0"/>
              <a:ext cx="4324260" cy="2167467"/>
            </a:xfrm>
            <a:custGeom>
              <a:avLst/>
              <a:gdLst/>
              <a:ahLst/>
              <a:cxnLst/>
              <a:rect r="r" b="b" t="t" l="l"/>
              <a:pathLst>
                <a:path h="2167467" w="4324260">
                  <a:moveTo>
                    <a:pt x="23105" y="0"/>
                  </a:moveTo>
                  <a:lnTo>
                    <a:pt x="4301155" y="0"/>
                  </a:lnTo>
                  <a:cubicBezTo>
                    <a:pt x="4307283" y="0"/>
                    <a:pt x="4313160" y="2434"/>
                    <a:pt x="4317493" y="6767"/>
                  </a:cubicBezTo>
                  <a:cubicBezTo>
                    <a:pt x="4321826" y="11100"/>
                    <a:pt x="4324260" y="16977"/>
                    <a:pt x="4324260" y="23105"/>
                  </a:cubicBezTo>
                  <a:lnTo>
                    <a:pt x="4324260" y="2144362"/>
                  </a:lnTo>
                  <a:cubicBezTo>
                    <a:pt x="4324260" y="2157122"/>
                    <a:pt x="4313916" y="2167467"/>
                    <a:pt x="4301155" y="2167467"/>
                  </a:cubicBezTo>
                  <a:lnTo>
                    <a:pt x="23105" y="2167467"/>
                  </a:lnTo>
                  <a:cubicBezTo>
                    <a:pt x="16977" y="2167467"/>
                    <a:pt x="11100" y="2165032"/>
                    <a:pt x="6767" y="2160700"/>
                  </a:cubicBezTo>
                  <a:cubicBezTo>
                    <a:pt x="2434" y="2156366"/>
                    <a:pt x="0" y="2150489"/>
                    <a:pt x="0" y="2144362"/>
                  </a:cubicBezTo>
                  <a:lnTo>
                    <a:pt x="0" y="23105"/>
                  </a:lnTo>
                  <a:cubicBezTo>
                    <a:pt x="0" y="16977"/>
                    <a:pt x="2434" y="11100"/>
                    <a:pt x="6767" y="6767"/>
                  </a:cubicBezTo>
                  <a:cubicBezTo>
                    <a:pt x="11100" y="2434"/>
                    <a:pt x="16977" y="0"/>
                    <a:pt x="23105" y="0"/>
                  </a:cubicBezTo>
                  <a:close/>
                </a:path>
              </a:pathLst>
            </a:custGeom>
            <a:solidFill>
              <a:srgbClr val="2E2D2D"/>
            </a:solidFill>
            <a:ln w="38100" cap="rnd">
              <a:solidFill>
                <a:srgbClr val="2E2D2D"/>
              </a:solidFill>
              <a:prstDash val="solid"/>
              <a:round/>
            </a:ln>
          </p:spPr>
        </p:sp>
        <p:sp>
          <p:nvSpPr>
            <p:cNvPr name="TextBox 4" id="4"/>
            <p:cNvSpPr txBox="true"/>
            <p:nvPr/>
          </p:nvSpPr>
          <p:spPr>
            <a:xfrm>
              <a:off x="0" y="-38100"/>
              <a:ext cx="4324260" cy="2205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50148" y="1028700"/>
            <a:ext cx="16418677" cy="8229600"/>
            <a:chOff x="0" y="0"/>
            <a:chExt cx="4324260" cy="2167467"/>
          </a:xfrm>
        </p:grpSpPr>
        <p:sp>
          <p:nvSpPr>
            <p:cNvPr name="Freeform 6" id="6"/>
            <p:cNvSpPr/>
            <p:nvPr/>
          </p:nvSpPr>
          <p:spPr>
            <a:xfrm flipH="false" flipV="false" rot="0">
              <a:off x="0" y="0"/>
              <a:ext cx="4324260" cy="2167467"/>
            </a:xfrm>
            <a:custGeom>
              <a:avLst/>
              <a:gdLst/>
              <a:ahLst/>
              <a:cxnLst/>
              <a:rect r="r" b="b" t="t" l="l"/>
              <a:pathLst>
                <a:path h="2167467" w="4324260">
                  <a:moveTo>
                    <a:pt x="23105" y="0"/>
                  </a:moveTo>
                  <a:lnTo>
                    <a:pt x="4301155" y="0"/>
                  </a:lnTo>
                  <a:cubicBezTo>
                    <a:pt x="4307283" y="0"/>
                    <a:pt x="4313160" y="2434"/>
                    <a:pt x="4317493" y="6767"/>
                  </a:cubicBezTo>
                  <a:cubicBezTo>
                    <a:pt x="4321826" y="11100"/>
                    <a:pt x="4324260" y="16977"/>
                    <a:pt x="4324260" y="23105"/>
                  </a:cubicBezTo>
                  <a:lnTo>
                    <a:pt x="4324260" y="2144362"/>
                  </a:lnTo>
                  <a:cubicBezTo>
                    <a:pt x="4324260" y="2157122"/>
                    <a:pt x="4313916" y="2167467"/>
                    <a:pt x="4301155" y="2167467"/>
                  </a:cubicBezTo>
                  <a:lnTo>
                    <a:pt x="23105" y="2167467"/>
                  </a:lnTo>
                  <a:cubicBezTo>
                    <a:pt x="16977" y="2167467"/>
                    <a:pt x="11100" y="2165032"/>
                    <a:pt x="6767" y="2160700"/>
                  </a:cubicBezTo>
                  <a:cubicBezTo>
                    <a:pt x="2434" y="2156366"/>
                    <a:pt x="0" y="2150489"/>
                    <a:pt x="0" y="2144362"/>
                  </a:cubicBezTo>
                  <a:lnTo>
                    <a:pt x="0" y="23105"/>
                  </a:lnTo>
                  <a:cubicBezTo>
                    <a:pt x="0" y="16977"/>
                    <a:pt x="2434" y="11100"/>
                    <a:pt x="6767" y="6767"/>
                  </a:cubicBezTo>
                  <a:cubicBezTo>
                    <a:pt x="11100" y="2434"/>
                    <a:pt x="16977" y="0"/>
                    <a:pt x="23105" y="0"/>
                  </a:cubicBezTo>
                  <a:close/>
                </a:path>
              </a:pathLst>
            </a:custGeom>
            <a:solidFill>
              <a:srgbClr val="F1F5F8"/>
            </a:solidFill>
            <a:ln w="38100" cap="rnd">
              <a:solidFill>
                <a:srgbClr val="2E2D2D"/>
              </a:solidFill>
              <a:prstDash val="solid"/>
              <a:round/>
            </a:ln>
          </p:spPr>
        </p:sp>
        <p:sp>
          <p:nvSpPr>
            <p:cNvPr name="TextBox 7" id="7"/>
            <p:cNvSpPr txBox="true"/>
            <p:nvPr/>
          </p:nvSpPr>
          <p:spPr>
            <a:xfrm>
              <a:off x="0" y="-38100"/>
              <a:ext cx="4324260" cy="22055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false" rot="0">
            <a:off x="1596121" y="3328169"/>
            <a:ext cx="5959601" cy="4782580"/>
          </a:xfrm>
          <a:custGeom>
            <a:avLst/>
            <a:gdLst/>
            <a:ahLst/>
            <a:cxnLst/>
            <a:rect r="r" b="b" t="t" l="l"/>
            <a:pathLst>
              <a:path h="4782580" w="5959601">
                <a:moveTo>
                  <a:pt x="5959602" y="0"/>
                </a:moveTo>
                <a:lnTo>
                  <a:pt x="0" y="0"/>
                </a:lnTo>
                <a:lnTo>
                  <a:pt x="0" y="4782580"/>
                </a:lnTo>
                <a:lnTo>
                  <a:pt x="5959602" y="4782580"/>
                </a:lnTo>
                <a:lnTo>
                  <a:pt x="5959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161361" y="1261760"/>
            <a:ext cx="15965277" cy="1179939"/>
          </a:xfrm>
          <a:prstGeom prst="rect">
            <a:avLst/>
          </a:prstGeom>
        </p:spPr>
        <p:txBody>
          <a:bodyPr anchor="t" rtlCol="false" tIns="0" lIns="0" bIns="0" rIns="0">
            <a:spAutoFit/>
          </a:bodyPr>
          <a:lstStyle/>
          <a:p>
            <a:pPr algn="l">
              <a:lnSpc>
                <a:spcPts val="4788"/>
              </a:lnSpc>
              <a:spcBef>
                <a:spcPct val="0"/>
              </a:spcBef>
            </a:pPr>
            <a:r>
              <a:rPr lang="en-US" sz="3420" b="true">
                <a:solidFill>
                  <a:srgbClr val="2E2D2D"/>
                </a:solidFill>
                <a:latin typeface="Glacial Indifference Bold"/>
                <a:ea typeface="Glacial Indifference Bold"/>
                <a:cs typeface="Glacial Indifference Bold"/>
                <a:sym typeface="Glacial Indifference Bold"/>
              </a:rPr>
              <a:t>Decoupling Identity Confounders for Enhanced Facial Expression Recognition: An Information-Theoretic Approach</a:t>
            </a:r>
          </a:p>
        </p:txBody>
      </p:sp>
      <p:sp>
        <p:nvSpPr>
          <p:cNvPr name="TextBox 10" id="10"/>
          <p:cNvSpPr txBox="true"/>
          <p:nvPr/>
        </p:nvSpPr>
        <p:spPr>
          <a:xfrm rot="0">
            <a:off x="2674420" y="7529395"/>
            <a:ext cx="12939160" cy="771525"/>
          </a:xfrm>
          <a:prstGeom prst="rect">
            <a:avLst/>
          </a:prstGeom>
        </p:spPr>
        <p:txBody>
          <a:bodyPr anchor="t" rtlCol="false" tIns="0" lIns="0" bIns="0" rIns="0">
            <a:spAutoFit/>
          </a:bodyPr>
          <a:lstStyle/>
          <a:p>
            <a:pPr algn="ctr">
              <a:lnSpc>
                <a:spcPts val="6299"/>
              </a:lnSpc>
              <a:spcBef>
                <a:spcPct val="0"/>
              </a:spcBef>
            </a:pPr>
            <a:r>
              <a:rPr lang="en-US" sz="4500">
                <a:solidFill>
                  <a:srgbClr val="F1F5F8"/>
                </a:solidFill>
                <a:latin typeface="Glacial Indifference"/>
                <a:ea typeface="Glacial Indifference"/>
                <a:cs typeface="Glacial Indifference"/>
                <a:sym typeface="Glacial Indifference"/>
              </a:rPr>
              <a:t>How It Works, Where We See It, and Why It Matters</a:t>
            </a:r>
          </a:p>
        </p:txBody>
      </p:sp>
      <p:grpSp>
        <p:nvGrpSpPr>
          <p:cNvPr name="Group 11" id="11"/>
          <p:cNvGrpSpPr/>
          <p:nvPr/>
        </p:nvGrpSpPr>
        <p:grpSpPr>
          <a:xfrm rot="0">
            <a:off x="9049962" y="4512413"/>
            <a:ext cx="8209338" cy="812461"/>
            <a:chOff x="0" y="0"/>
            <a:chExt cx="10945784" cy="1083281"/>
          </a:xfrm>
        </p:grpSpPr>
        <p:grpSp>
          <p:nvGrpSpPr>
            <p:cNvPr name="Group 12" id="12"/>
            <p:cNvGrpSpPr/>
            <p:nvPr/>
          </p:nvGrpSpPr>
          <p:grpSpPr>
            <a:xfrm rot="0">
              <a:off x="0" y="0"/>
              <a:ext cx="8276342" cy="1083281"/>
              <a:chOff x="0" y="0"/>
              <a:chExt cx="1634833" cy="213982"/>
            </a:xfrm>
          </p:grpSpPr>
          <p:sp>
            <p:nvSpPr>
              <p:cNvPr name="Freeform 13" id="13"/>
              <p:cNvSpPr/>
              <p:nvPr/>
            </p:nvSpPr>
            <p:spPr>
              <a:xfrm flipH="false" flipV="false" rot="0">
                <a:off x="0" y="0"/>
                <a:ext cx="1634833" cy="213982"/>
              </a:xfrm>
              <a:custGeom>
                <a:avLst/>
                <a:gdLst/>
                <a:ahLst/>
                <a:cxnLst/>
                <a:rect r="r" b="b" t="t" l="l"/>
                <a:pathLst>
                  <a:path h="213982" w="1634833">
                    <a:moveTo>
                      <a:pt x="61115" y="0"/>
                    </a:moveTo>
                    <a:lnTo>
                      <a:pt x="1573718" y="0"/>
                    </a:lnTo>
                    <a:cubicBezTo>
                      <a:pt x="1607471" y="0"/>
                      <a:pt x="1634833" y="27362"/>
                      <a:pt x="1634833" y="61115"/>
                    </a:cubicBezTo>
                    <a:lnTo>
                      <a:pt x="1634833" y="152867"/>
                    </a:lnTo>
                    <a:cubicBezTo>
                      <a:pt x="1634833" y="169076"/>
                      <a:pt x="1628394" y="184620"/>
                      <a:pt x="1616933" y="196081"/>
                    </a:cubicBezTo>
                    <a:cubicBezTo>
                      <a:pt x="1605472" y="207543"/>
                      <a:pt x="1589927" y="213982"/>
                      <a:pt x="1573718" y="213982"/>
                    </a:cubicBezTo>
                    <a:lnTo>
                      <a:pt x="61115" y="213982"/>
                    </a:lnTo>
                    <a:cubicBezTo>
                      <a:pt x="44906" y="213982"/>
                      <a:pt x="29361" y="207543"/>
                      <a:pt x="17900" y="196081"/>
                    </a:cubicBezTo>
                    <a:cubicBezTo>
                      <a:pt x="6439" y="184620"/>
                      <a:pt x="0" y="169076"/>
                      <a:pt x="0" y="152867"/>
                    </a:cubicBezTo>
                    <a:lnTo>
                      <a:pt x="0" y="61115"/>
                    </a:lnTo>
                    <a:cubicBezTo>
                      <a:pt x="0" y="44906"/>
                      <a:pt x="6439" y="29361"/>
                      <a:pt x="17900" y="17900"/>
                    </a:cubicBezTo>
                    <a:cubicBezTo>
                      <a:pt x="29361" y="6439"/>
                      <a:pt x="44906" y="0"/>
                      <a:pt x="61115" y="0"/>
                    </a:cubicBezTo>
                    <a:close/>
                  </a:path>
                </a:pathLst>
              </a:custGeom>
              <a:solidFill>
                <a:srgbClr val="2E2D2D"/>
              </a:solidFill>
              <a:ln w="38100" cap="rnd">
                <a:solidFill>
                  <a:srgbClr val="2E2D2D"/>
                </a:solidFill>
                <a:prstDash val="solid"/>
                <a:round/>
              </a:ln>
            </p:spPr>
          </p:sp>
          <p:sp>
            <p:nvSpPr>
              <p:cNvPr name="TextBox 14" id="14"/>
              <p:cNvSpPr txBox="true"/>
              <p:nvPr/>
            </p:nvSpPr>
            <p:spPr>
              <a:xfrm>
                <a:off x="0" y="-38100"/>
                <a:ext cx="1634833" cy="25208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572060" y="26489"/>
              <a:ext cx="10373725" cy="944577"/>
            </a:xfrm>
            <a:prstGeom prst="rect">
              <a:avLst/>
            </a:prstGeom>
          </p:spPr>
          <p:txBody>
            <a:bodyPr anchor="t" rtlCol="false" tIns="0" lIns="0" bIns="0" rIns="0">
              <a:spAutoFit/>
            </a:bodyPr>
            <a:lstStyle/>
            <a:p>
              <a:pPr algn="l">
                <a:lnSpc>
                  <a:spcPts val="5971"/>
                </a:lnSpc>
              </a:pPr>
              <a:r>
                <a:rPr lang="en-US" sz="4265">
                  <a:solidFill>
                    <a:srgbClr val="F1F5F8"/>
                  </a:solidFill>
                  <a:latin typeface="Squada One"/>
                  <a:ea typeface="Squada One"/>
                  <a:cs typeface="Squada One"/>
                  <a:sym typeface="Squada One"/>
                </a:rPr>
                <a:t>Abothula Rasagna (230051)</a:t>
              </a:r>
            </a:p>
          </p:txBody>
        </p:sp>
      </p:grpSp>
      <p:grpSp>
        <p:nvGrpSpPr>
          <p:cNvPr name="Group 16" id="16"/>
          <p:cNvGrpSpPr/>
          <p:nvPr/>
        </p:nvGrpSpPr>
        <p:grpSpPr>
          <a:xfrm rot="0">
            <a:off x="9049962" y="5505850"/>
            <a:ext cx="8209338" cy="812461"/>
            <a:chOff x="0" y="0"/>
            <a:chExt cx="10945784" cy="1083281"/>
          </a:xfrm>
        </p:grpSpPr>
        <p:grpSp>
          <p:nvGrpSpPr>
            <p:cNvPr name="Group 17" id="17"/>
            <p:cNvGrpSpPr/>
            <p:nvPr/>
          </p:nvGrpSpPr>
          <p:grpSpPr>
            <a:xfrm rot="0">
              <a:off x="0" y="0"/>
              <a:ext cx="8276342" cy="1083281"/>
              <a:chOff x="0" y="0"/>
              <a:chExt cx="1634833" cy="213982"/>
            </a:xfrm>
          </p:grpSpPr>
          <p:sp>
            <p:nvSpPr>
              <p:cNvPr name="Freeform 18" id="18"/>
              <p:cNvSpPr/>
              <p:nvPr/>
            </p:nvSpPr>
            <p:spPr>
              <a:xfrm flipH="false" flipV="false" rot="0">
                <a:off x="0" y="0"/>
                <a:ext cx="1634833" cy="213982"/>
              </a:xfrm>
              <a:custGeom>
                <a:avLst/>
                <a:gdLst/>
                <a:ahLst/>
                <a:cxnLst/>
                <a:rect r="r" b="b" t="t" l="l"/>
                <a:pathLst>
                  <a:path h="213982" w="1634833">
                    <a:moveTo>
                      <a:pt x="61115" y="0"/>
                    </a:moveTo>
                    <a:lnTo>
                      <a:pt x="1573718" y="0"/>
                    </a:lnTo>
                    <a:cubicBezTo>
                      <a:pt x="1607471" y="0"/>
                      <a:pt x="1634833" y="27362"/>
                      <a:pt x="1634833" y="61115"/>
                    </a:cubicBezTo>
                    <a:lnTo>
                      <a:pt x="1634833" y="152867"/>
                    </a:lnTo>
                    <a:cubicBezTo>
                      <a:pt x="1634833" y="169076"/>
                      <a:pt x="1628394" y="184620"/>
                      <a:pt x="1616933" y="196081"/>
                    </a:cubicBezTo>
                    <a:cubicBezTo>
                      <a:pt x="1605472" y="207543"/>
                      <a:pt x="1589927" y="213982"/>
                      <a:pt x="1573718" y="213982"/>
                    </a:cubicBezTo>
                    <a:lnTo>
                      <a:pt x="61115" y="213982"/>
                    </a:lnTo>
                    <a:cubicBezTo>
                      <a:pt x="44906" y="213982"/>
                      <a:pt x="29361" y="207543"/>
                      <a:pt x="17900" y="196081"/>
                    </a:cubicBezTo>
                    <a:cubicBezTo>
                      <a:pt x="6439" y="184620"/>
                      <a:pt x="0" y="169076"/>
                      <a:pt x="0" y="152867"/>
                    </a:cubicBezTo>
                    <a:lnTo>
                      <a:pt x="0" y="61115"/>
                    </a:lnTo>
                    <a:cubicBezTo>
                      <a:pt x="0" y="44906"/>
                      <a:pt x="6439" y="29361"/>
                      <a:pt x="17900" y="17900"/>
                    </a:cubicBezTo>
                    <a:cubicBezTo>
                      <a:pt x="29361" y="6439"/>
                      <a:pt x="44906" y="0"/>
                      <a:pt x="61115" y="0"/>
                    </a:cubicBezTo>
                    <a:close/>
                  </a:path>
                </a:pathLst>
              </a:custGeom>
              <a:solidFill>
                <a:srgbClr val="2E2D2D"/>
              </a:solidFill>
              <a:ln w="38100" cap="rnd">
                <a:solidFill>
                  <a:srgbClr val="2E2D2D"/>
                </a:solidFill>
                <a:prstDash val="solid"/>
                <a:round/>
              </a:ln>
            </p:spPr>
          </p:sp>
          <p:sp>
            <p:nvSpPr>
              <p:cNvPr name="TextBox 19" id="19"/>
              <p:cNvSpPr txBox="true"/>
              <p:nvPr/>
            </p:nvSpPr>
            <p:spPr>
              <a:xfrm>
                <a:off x="0" y="-38100"/>
                <a:ext cx="1634833" cy="25208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572060" y="26489"/>
              <a:ext cx="10373725" cy="944577"/>
            </a:xfrm>
            <a:prstGeom prst="rect">
              <a:avLst/>
            </a:prstGeom>
          </p:spPr>
          <p:txBody>
            <a:bodyPr anchor="t" rtlCol="false" tIns="0" lIns="0" bIns="0" rIns="0">
              <a:spAutoFit/>
            </a:bodyPr>
            <a:lstStyle/>
            <a:p>
              <a:pPr algn="l">
                <a:lnSpc>
                  <a:spcPts val="5971"/>
                </a:lnSpc>
              </a:pPr>
              <a:r>
                <a:rPr lang="en-US" sz="4265">
                  <a:solidFill>
                    <a:srgbClr val="F1F5F8"/>
                  </a:solidFill>
                  <a:latin typeface="Squada One"/>
                  <a:ea typeface="Squada One"/>
                  <a:cs typeface="Squada One"/>
                  <a:sym typeface="Squada One"/>
                </a:rPr>
                <a:t>Dhruv V. Shetty (230370)</a:t>
              </a:r>
            </a:p>
          </p:txBody>
        </p:sp>
      </p:grpSp>
      <p:grpSp>
        <p:nvGrpSpPr>
          <p:cNvPr name="Group 21" id="21"/>
          <p:cNvGrpSpPr/>
          <p:nvPr/>
        </p:nvGrpSpPr>
        <p:grpSpPr>
          <a:xfrm rot="0">
            <a:off x="9049962" y="6499286"/>
            <a:ext cx="8209338" cy="812461"/>
            <a:chOff x="0" y="0"/>
            <a:chExt cx="10945784" cy="1083281"/>
          </a:xfrm>
        </p:grpSpPr>
        <p:grpSp>
          <p:nvGrpSpPr>
            <p:cNvPr name="Group 22" id="22"/>
            <p:cNvGrpSpPr/>
            <p:nvPr/>
          </p:nvGrpSpPr>
          <p:grpSpPr>
            <a:xfrm rot="0">
              <a:off x="0" y="0"/>
              <a:ext cx="8276342" cy="1083281"/>
              <a:chOff x="0" y="0"/>
              <a:chExt cx="1634833" cy="213982"/>
            </a:xfrm>
          </p:grpSpPr>
          <p:sp>
            <p:nvSpPr>
              <p:cNvPr name="Freeform 23" id="23"/>
              <p:cNvSpPr/>
              <p:nvPr/>
            </p:nvSpPr>
            <p:spPr>
              <a:xfrm flipH="false" flipV="false" rot="0">
                <a:off x="0" y="0"/>
                <a:ext cx="1634833" cy="213982"/>
              </a:xfrm>
              <a:custGeom>
                <a:avLst/>
                <a:gdLst/>
                <a:ahLst/>
                <a:cxnLst/>
                <a:rect r="r" b="b" t="t" l="l"/>
                <a:pathLst>
                  <a:path h="213982" w="1634833">
                    <a:moveTo>
                      <a:pt x="61115" y="0"/>
                    </a:moveTo>
                    <a:lnTo>
                      <a:pt x="1573718" y="0"/>
                    </a:lnTo>
                    <a:cubicBezTo>
                      <a:pt x="1607471" y="0"/>
                      <a:pt x="1634833" y="27362"/>
                      <a:pt x="1634833" y="61115"/>
                    </a:cubicBezTo>
                    <a:lnTo>
                      <a:pt x="1634833" y="152867"/>
                    </a:lnTo>
                    <a:cubicBezTo>
                      <a:pt x="1634833" y="169076"/>
                      <a:pt x="1628394" y="184620"/>
                      <a:pt x="1616933" y="196081"/>
                    </a:cubicBezTo>
                    <a:cubicBezTo>
                      <a:pt x="1605472" y="207543"/>
                      <a:pt x="1589927" y="213982"/>
                      <a:pt x="1573718" y="213982"/>
                    </a:cubicBezTo>
                    <a:lnTo>
                      <a:pt x="61115" y="213982"/>
                    </a:lnTo>
                    <a:cubicBezTo>
                      <a:pt x="44906" y="213982"/>
                      <a:pt x="29361" y="207543"/>
                      <a:pt x="17900" y="196081"/>
                    </a:cubicBezTo>
                    <a:cubicBezTo>
                      <a:pt x="6439" y="184620"/>
                      <a:pt x="0" y="169076"/>
                      <a:pt x="0" y="152867"/>
                    </a:cubicBezTo>
                    <a:lnTo>
                      <a:pt x="0" y="61115"/>
                    </a:lnTo>
                    <a:cubicBezTo>
                      <a:pt x="0" y="44906"/>
                      <a:pt x="6439" y="29361"/>
                      <a:pt x="17900" y="17900"/>
                    </a:cubicBezTo>
                    <a:cubicBezTo>
                      <a:pt x="29361" y="6439"/>
                      <a:pt x="44906" y="0"/>
                      <a:pt x="61115" y="0"/>
                    </a:cubicBezTo>
                    <a:close/>
                  </a:path>
                </a:pathLst>
              </a:custGeom>
              <a:solidFill>
                <a:srgbClr val="2E2D2D"/>
              </a:solidFill>
              <a:ln w="38100" cap="rnd">
                <a:solidFill>
                  <a:srgbClr val="2E2D2D"/>
                </a:solidFill>
                <a:prstDash val="solid"/>
                <a:round/>
              </a:ln>
            </p:spPr>
          </p:sp>
          <p:sp>
            <p:nvSpPr>
              <p:cNvPr name="TextBox 24" id="24"/>
              <p:cNvSpPr txBox="true"/>
              <p:nvPr/>
            </p:nvSpPr>
            <p:spPr>
              <a:xfrm>
                <a:off x="0" y="-38100"/>
                <a:ext cx="1634833" cy="25208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572060" y="26489"/>
              <a:ext cx="10373725" cy="944577"/>
            </a:xfrm>
            <a:prstGeom prst="rect">
              <a:avLst/>
            </a:prstGeom>
          </p:spPr>
          <p:txBody>
            <a:bodyPr anchor="t" rtlCol="false" tIns="0" lIns="0" bIns="0" rIns="0">
              <a:spAutoFit/>
            </a:bodyPr>
            <a:lstStyle/>
            <a:p>
              <a:pPr algn="l">
                <a:lnSpc>
                  <a:spcPts val="5971"/>
                </a:lnSpc>
              </a:pPr>
              <a:r>
                <a:rPr lang="en-US" sz="4265">
                  <a:solidFill>
                    <a:srgbClr val="F1F5F8"/>
                  </a:solidFill>
                  <a:latin typeface="Squada One"/>
                  <a:ea typeface="Squada One"/>
                  <a:cs typeface="Squada One"/>
                  <a:sym typeface="Squada One"/>
                </a:rPr>
                <a:t>Prince Yadav (230792)</a:t>
              </a:r>
            </a:p>
          </p:txBody>
        </p:sp>
      </p:grpSp>
      <p:grpSp>
        <p:nvGrpSpPr>
          <p:cNvPr name="Group 26" id="26"/>
          <p:cNvGrpSpPr/>
          <p:nvPr/>
        </p:nvGrpSpPr>
        <p:grpSpPr>
          <a:xfrm rot="0">
            <a:off x="9049962" y="7488459"/>
            <a:ext cx="8209338" cy="812461"/>
            <a:chOff x="0" y="0"/>
            <a:chExt cx="10945784" cy="1083281"/>
          </a:xfrm>
        </p:grpSpPr>
        <p:grpSp>
          <p:nvGrpSpPr>
            <p:cNvPr name="Group 27" id="27"/>
            <p:cNvGrpSpPr/>
            <p:nvPr/>
          </p:nvGrpSpPr>
          <p:grpSpPr>
            <a:xfrm rot="0">
              <a:off x="0" y="0"/>
              <a:ext cx="8276342" cy="1083281"/>
              <a:chOff x="0" y="0"/>
              <a:chExt cx="1634833" cy="213982"/>
            </a:xfrm>
          </p:grpSpPr>
          <p:sp>
            <p:nvSpPr>
              <p:cNvPr name="Freeform 28" id="28"/>
              <p:cNvSpPr/>
              <p:nvPr/>
            </p:nvSpPr>
            <p:spPr>
              <a:xfrm flipH="false" flipV="false" rot="0">
                <a:off x="0" y="0"/>
                <a:ext cx="1634833" cy="213982"/>
              </a:xfrm>
              <a:custGeom>
                <a:avLst/>
                <a:gdLst/>
                <a:ahLst/>
                <a:cxnLst/>
                <a:rect r="r" b="b" t="t" l="l"/>
                <a:pathLst>
                  <a:path h="213982" w="1634833">
                    <a:moveTo>
                      <a:pt x="61115" y="0"/>
                    </a:moveTo>
                    <a:lnTo>
                      <a:pt x="1573718" y="0"/>
                    </a:lnTo>
                    <a:cubicBezTo>
                      <a:pt x="1607471" y="0"/>
                      <a:pt x="1634833" y="27362"/>
                      <a:pt x="1634833" y="61115"/>
                    </a:cubicBezTo>
                    <a:lnTo>
                      <a:pt x="1634833" y="152867"/>
                    </a:lnTo>
                    <a:cubicBezTo>
                      <a:pt x="1634833" y="169076"/>
                      <a:pt x="1628394" y="184620"/>
                      <a:pt x="1616933" y="196081"/>
                    </a:cubicBezTo>
                    <a:cubicBezTo>
                      <a:pt x="1605472" y="207543"/>
                      <a:pt x="1589927" y="213982"/>
                      <a:pt x="1573718" y="213982"/>
                    </a:cubicBezTo>
                    <a:lnTo>
                      <a:pt x="61115" y="213982"/>
                    </a:lnTo>
                    <a:cubicBezTo>
                      <a:pt x="44906" y="213982"/>
                      <a:pt x="29361" y="207543"/>
                      <a:pt x="17900" y="196081"/>
                    </a:cubicBezTo>
                    <a:cubicBezTo>
                      <a:pt x="6439" y="184620"/>
                      <a:pt x="0" y="169076"/>
                      <a:pt x="0" y="152867"/>
                    </a:cubicBezTo>
                    <a:lnTo>
                      <a:pt x="0" y="61115"/>
                    </a:lnTo>
                    <a:cubicBezTo>
                      <a:pt x="0" y="44906"/>
                      <a:pt x="6439" y="29361"/>
                      <a:pt x="17900" y="17900"/>
                    </a:cubicBezTo>
                    <a:cubicBezTo>
                      <a:pt x="29361" y="6439"/>
                      <a:pt x="44906" y="0"/>
                      <a:pt x="61115" y="0"/>
                    </a:cubicBezTo>
                    <a:close/>
                  </a:path>
                </a:pathLst>
              </a:custGeom>
              <a:solidFill>
                <a:srgbClr val="2E2D2D"/>
              </a:solidFill>
              <a:ln w="38100" cap="rnd">
                <a:solidFill>
                  <a:srgbClr val="2E2D2D"/>
                </a:solidFill>
                <a:prstDash val="solid"/>
                <a:round/>
              </a:ln>
            </p:spPr>
          </p:sp>
          <p:sp>
            <p:nvSpPr>
              <p:cNvPr name="TextBox 29" id="29"/>
              <p:cNvSpPr txBox="true"/>
              <p:nvPr/>
            </p:nvSpPr>
            <p:spPr>
              <a:xfrm>
                <a:off x="0" y="-38100"/>
                <a:ext cx="1634833" cy="25208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572060" y="26489"/>
              <a:ext cx="10373725" cy="944577"/>
            </a:xfrm>
            <a:prstGeom prst="rect">
              <a:avLst/>
            </a:prstGeom>
          </p:spPr>
          <p:txBody>
            <a:bodyPr anchor="t" rtlCol="false" tIns="0" lIns="0" bIns="0" rIns="0">
              <a:spAutoFit/>
            </a:bodyPr>
            <a:lstStyle/>
            <a:p>
              <a:pPr algn="l">
                <a:lnSpc>
                  <a:spcPts val="5971"/>
                </a:lnSpc>
              </a:pPr>
              <a:r>
                <a:rPr lang="en-US" sz="4265">
                  <a:solidFill>
                    <a:srgbClr val="F1F5F8"/>
                  </a:solidFill>
                  <a:latin typeface="Squada One"/>
                  <a:ea typeface="Squada One"/>
                  <a:cs typeface="Squada One"/>
                  <a:sym typeface="Squada One"/>
                </a:rPr>
                <a:t>Vrutika Rao (231177)</a:t>
              </a:r>
            </a:p>
          </p:txBody>
        </p:sp>
      </p:grpSp>
      <p:grpSp>
        <p:nvGrpSpPr>
          <p:cNvPr name="Group 31" id="31"/>
          <p:cNvGrpSpPr/>
          <p:nvPr/>
        </p:nvGrpSpPr>
        <p:grpSpPr>
          <a:xfrm rot="0">
            <a:off x="8252590" y="2625075"/>
            <a:ext cx="7695166" cy="1284630"/>
            <a:chOff x="0" y="0"/>
            <a:chExt cx="10260221" cy="1712840"/>
          </a:xfrm>
        </p:grpSpPr>
        <p:grpSp>
          <p:nvGrpSpPr>
            <p:cNvPr name="Group 32" id="32"/>
            <p:cNvGrpSpPr/>
            <p:nvPr/>
          </p:nvGrpSpPr>
          <p:grpSpPr>
            <a:xfrm rot="0">
              <a:off x="158960" y="56788"/>
              <a:ext cx="10101261" cy="1656052"/>
              <a:chOff x="0" y="0"/>
              <a:chExt cx="1995311" cy="327121"/>
            </a:xfrm>
          </p:grpSpPr>
          <p:sp>
            <p:nvSpPr>
              <p:cNvPr name="Freeform 33" id="33"/>
              <p:cNvSpPr/>
              <p:nvPr/>
            </p:nvSpPr>
            <p:spPr>
              <a:xfrm flipH="false" flipV="false" rot="0">
                <a:off x="0" y="0"/>
                <a:ext cx="1995311" cy="327121"/>
              </a:xfrm>
              <a:custGeom>
                <a:avLst/>
                <a:gdLst/>
                <a:ahLst/>
                <a:cxnLst/>
                <a:rect r="r" b="b" t="t" l="l"/>
                <a:pathLst>
                  <a:path h="327121" w="1995311">
                    <a:moveTo>
                      <a:pt x="50073" y="0"/>
                    </a:moveTo>
                    <a:lnTo>
                      <a:pt x="1945237" y="0"/>
                    </a:lnTo>
                    <a:cubicBezTo>
                      <a:pt x="1972892" y="0"/>
                      <a:pt x="1995311" y="22419"/>
                      <a:pt x="1995311" y="50073"/>
                    </a:cubicBezTo>
                    <a:lnTo>
                      <a:pt x="1995311" y="277048"/>
                    </a:lnTo>
                    <a:cubicBezTo>
                      <a:pt x="1995311" y="290328"/>
                      <a:pt x="1990035" y="303065"/>
                      <a:pt x="1980645" y="312455"/>
                    </a:cubicBezTo>
                    <a:cubicBezTo>
                      <a:pt x="1971254" y="321846"/>
                      <a:pt x="1958518" y="327121"/>
                      <a:pt x="1945237" y="327121"/>
                    </a:cubicBezTo>
                    <a:lnTo>
                      <a:pt x="50073" y="327121"/>
                    </a:lnTo>
                    <a:cubicBezTo>
                      <a:pt x="36793" y="327121"/>
                      <a:pt x="24057" y="321846"/>
                      <a:pt x="14666" y="312455"/>
                    </a:cubicBezTo>
                    <a:cubicBezTo>
                      <a:pt x="5276" y="303065"/>
                      <a:pt x="0" y="290328"/>
                      <a:pt x="0" y="277048"/>
                    </a:cubicBezTo>
                    <a:lnTo>
                      <a:pt x="0" y="50073"/>
                    </a:lnTo>
                    <a:cubicBezTo>
                      <a:pt x="0" y="36793"/>
                      <a:pt x="5276" y="24057"/>
                      <a:pt x="14666" y="14666"/>
                    </a:cubicBezTo>
                    <a:cubicBezTo>
                      <a:pt x="24057" y="5276"/>
                      <a:pt x="36793" y="0"/>
                      <a:pt x="50073" y="0"/>
                    </a:cubicBezTo>
                    <a:close/>
                  </a:path>
                </a:pathLst>
              </a:custGeom>
              <a:solidFill>
                <a:srgbClr val="2E2D2D"/>
              </a:solidFill>
              <a:ln w="38100" cap="rnd">
                <a:solidFill>
                  <a:srgbClr val="2E2D2D"/>
                </a:solidFill>
                <a:prstDash val="solid"/>
                <a:round/>
              </a:ln>
            </p:spPr>
          </p:sp>
          <p:sp>
            <p:nvSpPr>
              <p:cNvPr name="TextBox 34" id="34"/>
              <p:cNvSpPr txBox="true"/>
              <p:nvPr/>
            </p:nvSpPr>
            <p:spPr>
              <a:xfrm>
                <a:off x="0" y="-38100"/>
                <a:ext cx="1995311" cy="365221"/>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0" y="0"/>
              <a:ext cx="10101261" cy="1656052"/>
              <a:chOff x="0" y="0"/>
              <a:chExt cx="1995311" cy="327121"/>
            </a:xfrm>
          </p:grpSpPr>
          <p:sp>
            <p:nvSpPr>
              <p:cNvPr name="Freeform 36" id="36"/>
              <p:cNvSpPr/>
              <p:nvPr/>
            </p:nvSpPr>
            <p:spPr>
              <a:xfrm flipH="false" flipV="false" rot="0">
                <a:off x="0" y="0"/>
                <a:ext cx="1995311" cy="327121"/>
              </a:xfrm>
              <a:custGeom>
                <a:avLst/>
                <a:gdLst/>
                <a:ahLst/>
                <a:cxnLst/>
                <a:rect r="r" b="b" t="t" l="l"/>
                <a:pathLst>
                  <a:path h="327121" w="1995311">
                    <a:moveTo>
                      <a:pt x="50073" y="0"/>
                    </a:moveTo>
                    <a:lnTo>
                      <a:pt x="1945237" y="0"/>
                    </a:lnTo>
                    <a:cubicBezTo>
                      <a:pt x="1972892" y="0"/>
                      <a:pt x="1995311" y="22419"/>
                      <a:pt x="1995311" y="50073"/>
                    </a:cubicBezTo>
                    <a:lnTo>
                      <a:pt x="1995311" y="277048"/>
                    </a:lnTo>
                    <a:cubicBezTo>
                      <a:pt x="1995311" y="290328"/>
                      <a:pt x="1990035" y="303065"/>
                      <a:pt x="1980645" y="312455"/>
                    </a:cubicBezTo>
                    <a:cubicBezTo>
                      <a:pt x="1971254" y="321846"/>
                      <a:pt x="1958518" y="327121"/>
                      <a:pt x="1945237" y="327121"/>
                    </a:cubicBezTo>
                    <a:lnTo>
                      <a:pt x="50073" y="327121"/>
                    </a:lnTo>
                    <a:cubicBezTo>
                      <a:pt x="36793" y="327121"/>
                      <a:pt x="24057" y="321846"/>
                      <a:pt x="14666" y="312455"/>
                    </a:cubicBezTo>
                    <a:cubicBezTo>
                      <a:pt x="5276" y="303065"/>
                      <a:pt x="0" y="290328"/>
                      <a:pt x="0" y="277048"/>
                    </a:cubicBezTo>
                    <a:lnTo>
                      <a:pt x="0" y="50073"/>
                    </a:lnTo>
                    <a:cubicBezTo>
                      <a:pt x="0" y="36793"/>
                      <a:pt x="5276" y="24057"/>
                      <a:pt x="14666" y="14666"/>
                    </a:cubicBezTo>
                    <a:cubicBezTo>
                      <a:pt x="24057" y="5276"/>
                      <a:pt x="36793" y="0"/>
                      <a:pt x="50073" y="0"/>
                    </a:cubicBezTo>
                    <a:close/>
                  </a:path>
                </a:pathLst>
              </a:custGeom>
              <a:solidFill>
                <a:srgbClr val="F1F5F8"/>
              </a:solidFill>
              <a:ln w="38100" cap="rnd">
                <a:solidFill>
                  <a:srgbClr val="2E2D2D"/>
                </a:solidFill>
                <a:prstDash val="solid"/>
                <a:round/>
              </a:ln>
            </p:spPr>
          </p:sp>
          <p:sp>
            <p:nvSpPr>
              <p:cNvPr name="TextBox 37" id="37"/>
              <p:cNvSpPr txBox="true"/>
              <p:nvPr/>
            </p:nvSpPr>
            <p:spPr>
              <a:xfrm>
                <a:off x="0" y="-38100"/>
                <a:ext cx="1995311" cy="365221"/>
              </a:xfrm>
              <a:prstGeom prst="rect">
                <a:avLst/>
              </a:prstGeom>
            </p:spPr>
            <p:txBody>
              <a:bodyPr anchor="ctr" rtlCol="false" tIns="50800" lIns="50800" bIns="50800" rIns="50800"/>
              <a:lstStyle/>
              <a:p>
                <a:pPr algn="ctr">
                  <a:lnSpc>
                    <a:spcPts val="2659"/>
                  </a:lnSpc>
                </a:pPr>
              </a:p>
            </p:txBody>
          </p:sp>
        </p:grpSp>
      </p:grpSp>
      <p:sp>
        <p:nvSpPr>
          <p:cNvPr name="TextBox 38" id="38"/>
          <p:cNvSpPr txBox="true"/>
          <p:nvPr/>
        </p:nvSpPr>
        <p:spPr>
          <a:xfrm rot="0">
            <a:off x="9049962" y="2779267"/>
            <a:ext cx="7780293" cy="871470"/>
          </a:xfrm>
          <a:prstGeom prst="rect">
            <a:avLst/>
          </a:prstGeom>
        </p:spPr>
        <p:txBody>
          <a:bodyPr anchor="t" rtlCol="false" tIns="0" lIns="0" bIns="0" rIns="0">
            <a:spAutoFit/>
          </a:bodyPr>
          <a:lstStyle/>
          <a:p>
            <a:pPr algn="l">
              <a:lnSpc>
                <a:spcPts val="7091"/>
              </a:lnSpc>
            </a:pPr>
            <a:r>
              <a:rPr lang="en-US" sz="5065">
                <a:solidFill>
                  <a:srgbClr val="2E2D2D"/>
                </a:solidFill>
                <a:latin typeface="Squada One"/>
                <a:ea typeface="Squada One"/>
                <a:cs typeface="Squada One"/>
                <a:sym typeface="Squada One"/>
              </a:rPr>
              <a:t>EE656 - COURSE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250667"/>
            <a:ext cx="5910895" cy="5216365"/>
          </a:xfrm>
          <a:custGeom>
            <a:avLst/>
            <a:gdLst/>
            <a:ahLst/>
            <a:cxnLst/>
            <a:rect r="r" b="b" t="t" l="l"/>
            <a:pathLst>
              <a:path h="5216365" w="5910895">
                <a:moveTo>
                  <a:pt x="0" y="0"/>
                </a:moveTo>
                <a:lnTo>
                  <a:pt x="5910895" y="0"/>
                </a:lnTo>
                <a:lnTo>
                  <a:pt x="5910895" y="5216365"/>
                </a:lnTo>
                <a:lnTo>
                  <a:pt x="0" y="52163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39407" y="887038"/>
            <a:ext cx="6616936" cy="1708151"/>
          </a:xfrm>
          <a:prstGeom prst="rect">
            <a:avLst/>
          </a:prstGeom>
        </p:spPr>
        <p:txBody>
          <a:bodyPr anchor="t" rtlCol="false" tIns="0" lIns="0" bIns="0" rIns="0">
            <a:spAutoFit/>
          </a:bodyPr>
          <a:lstStyle/>
          <a:p>
            <a:pPr algn="l">
              <a:lnSpc>
                <a:spcPts val="13999"/>
              </a:lnSpc>
            </a:pPr>
            <a:r>
              <a:rPr lang="en-US" sz="9999">
                <a:solidFill>
                  <a:srgbClr val="F1F5F8"/>
                </a:solidFill>
                <a:latin typeface="Squada One"/>
                <a:ea typeface="Squada One"/>
                <a:cs typeface="Squada One"/>
                <a:sym typeface="Squada One"/>
              </a:rPr>
              <a:t>Contents</a:t>
            </a:r>
          </a:p>
        </p:txBody>
      </p:sp>
      <p:grpSp>
        <p:nvGrpSpPr>
          <p:cNvPr name="Group 4" id="4"/>
          <p:cNvGrpSpPr/>
          <p:nvPr/>
        </p:nvGrpSpPr>
        <p:grpSpPr>
          <a:xfrm rot="0">
            <a:off x="9144000" y="258995"/>
            <a:ext cx="6649297" cy="1101118"/>
            <a:chOff x="0" y="0"/>
            <a:chExt cx="8865730" cy="1468158"/>
          </a:xfrm>
        </p:grpSpPr>
        <p:grpSp>
          <p:nvGrpSpPr>
            <p:cNvPr name="Group 5" id="5"/>
            <p:cNvGrpSpPr/>
            <p:nvPr/>
          </p:nvGrpSpPr>
          <p:grpSpPr>
            <a:xfrm rot="0">
              <a:off x="158889" y="158889"/>
              <a:ext cx="8706841" cy="1309269"/>
              <a:chOff x="0" y="0"/>
              <a:chExt cx="1695822" cy="255005"/>
            </a:xfrm>
          </p:grpSpPr>
          <p:sp>
            <p:nvSpPr>
              <p:cNvPr name="Freeform 6" id="6"/>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7" id="7"/>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8706841" cy="1309269"/>
              <a:chOff x="0" y="0"/>
              <a:chExt cx="1695822" cy="255005"/>
            </a:xfrm>
          </p:grpSpPr>
          <p:sp>
            <p:nvSpPr>
              <p:cNvPr name="Freeform 9" id="9"/>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10" id="10"/>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OBJECT</a:t>
              </a:r>
              <a:r>
                <a:rPr lang="en-US" sz="2345">
                  <a:solidFill>
                    <a:srgbClr val="000000"/>
                  </a:solidFill>
                  <a:latin typeface="Glacial Indifference"/>
                  <a:ea typeface="Glacial Indifference"/>
                  <a:cs typeface="Glacial Indifference"/>
                  <a:sym typeface="Glacial Indifference"/>
                </a:rPr>
                <a:t>IVE</a:t>
              </a:r>
            </a:p>
          </p:txBody>
        </p:sp>
      </p:grpSp>
      <p:grpSp>
        <p:nvGrpSpPr>
          <p:cNvPr name="Group 12" id="12"/>
          <p:cNvGrpSpPr/>
          <p:nvPr/>
        </p:nvGrpSpPr>
        <p:grpSpPr>
          <a:xfrm rot="0">
            <a:off x="9156941" y="3964666"/>
            <a:ext cx="6649297" cy="1101118"/>
            <a:chOff x="0" y="0"/>
            <a:chExt cx="8865730" cy="1468158"/>
          </a:xfrm>
        </p:grpSpPr>
        <p:grpSp>
          <p:nvGrpSpPr>
            <p:cNvPr name="Group 13" id="13"/>
            <p:cNvGrpSpPr/>
            <p:nvPr/>
          </p:nvGrpSpPr>
          <p:grpSpPr>
            <a:xfrm rot="0">
              <a:off x="158889" y="158889"/>
              <a:ext cx="8706841" cy="1309269"/>
              <a:chOff x="0" y="0"/>
              <a:chExt cx="1695822" cy="255005"/>
            </a:xfrm>
          </p:grpSpPr>
          <p:sp>
            <p:nvSpPr>
              <p:cNvPr name="Freeform 14" id="14"/>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15" id="15"/>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0"/>
              <a:ext cx="8706841" cy="1309269"/>
              <a:chOff x="0" y="0"/>
              <a:chExt cx="1695822" cy="255005"/>
            </a:xfrm>
          </p:grpSpPr>
          <p:sp>
            <p:nvSpPr>
              <p:cNvPr name="Freeform 17" id="17"/>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18" id="18"/>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Implementation Strategy</a:t>
              </a:r>
            </a:p>
          </p:txBody>
        </p:sp>
      </p:grpSp>
      <p:grpSp>
        <p:nvGrpSpPr>
          <p:cNvPr name="Group 20" id="20"/>
          <p:cNvGrpSpPr/>
          <p:nvPr/>
        </p:nvGrpSpPr>
        <p:grpSpPr>
          <a:xfrm rot="0">
            <a:off x="9156941" y="2700108"/>
            <a:ext cx="6649297" cy="1101118"/>
            <a:chOff x="0" y="0"/>
            <a:chExt cx="8865730" cy="1468158"/>
          </a:xfrm>
        </p:grpSpPr>
        <p:grpSp>
          <p:nvGrpSpPr>
            <p:cNvPr name="Group 21" id="21"/>
            <p:cNvGrpSpPr/>
            <p:nvPr/>
          </p:nvGrpSpPr>
          <p:grpSpPr>
            <a:xfrm rot="0">
              <a:off x="158889" y="158889"/>
              <a:ext cx="8706841" cy="1309269"/>
              <a:chOff x="0" y="0"/>
              <a:chExt cx="1695822" cy="255005"/>
            </a:xfrm>
          </p:grpSpPr>
          <p:sp>
            <p:nvSpPr>
              <p:cNvPr name="Freeform 22" id="22"/>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23" id="23"/>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0" y="0"/>
              <a:ext cx="8706841" cy="1309269"/>
              <a:chOff x="0" y="0"/>
              <a:chExt cx="1695822" cy="255005"/>
            </a:xfrm>
          </p:grpSpPr>
          <p:sp>
            <p:nvSpPr>
              <p:cNvPr name="Freeform 25" id="25"/>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26" id="26"/>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Technical Concepts</a:t>
              </a:r>
            </a:p>
          </p:txBody>
        </p:sp>
      </p:grpSp>
      <p:grpSp>
        <p:nvGrpSpPr>
          <p:cNvPr name="Group 28" id="28"/>
          <p:cNvGrpSpPr/>
          <p:nvPr/>
        </p:nvGrpSpPr>
        <p:grpSpPr>
          <a:xfrm rot="0">
            <a:off x="9156941" y="1475164"/>
            <a:ext cx="6649297" cy="1101118"/>
            <a:chOff x="0" y="0"/>
            <a:chExt cx="8865730" cy="1468158"/>
          </a:xfrm>
        </p:grpSpPr>
        <p:grpSp>
          <p:nvGrpSpPr>
            <p:cNvPr name="Group 29" id="29"/>
            <p:cNvGrpSpPr/>
            <p:nvPr/>
          </p:nvGrpSpPr>
          <p:grpSpPr>
            <a:xfrm rot="0">
              <a:off x="158889" y="158889"/>
              <a:ext cx="8706841" cy="1309269"/>
              <a:chOff x="0" y="0"/>
              <a:chExt cx="1695822" cy="255005"/>
            </a:xfrm>
          </p:grpSpPr>
          <p:sp>
            <p:nvSpPr>
              <p:cNvPr name="Freeform 30" id="30"/>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31" id="31"/>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0" y="0"/>
              <a:ext cx="8706841" cy="1309269"/>
              <a:chOff x="0" y="0"/>
              <a:chExt cx="1695822" cy="255005"/>
            </a:xfrm>
          </p:grpSpPr>
          <p:sp>
            <p:nvSpPr>
              <p:cNvPr name="Freeform 33" id="33"/>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34" id="34"/>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Summary of the paper</a:t>
              </a:r>
              <a:r>
                <a:rPr lang="en-US" sz="2345">
                  <a:solidFill>
                    <a:srgbClr val="000000"/>
                  </a:solidFill>
                  <a:latin typeface="Glacial Indifference"/>
                  <a:ea typeface="Glacial Indifference"/>
                  <a:cs typeface="Glacial Indifference"/>
                  <a:sym typeface="Glacial Indifference"/>
                </a:rPr>
                <a:t> </a:t>
              </a:r>
            </a:p>
          </p:txBody>
        </p:sp>
      </p:grpSp>
      <p:grpSp>
        <p:nvGrpSpPr>
          <p:cNvPr name="Group 36" id="36"/>
          <p:cNvGrpSpPr/>
          <p:nvPr/>
        </p:nvGrpSpPr>
        <p:grpSpPr>
          <a:xfrm rot="0">
            <a:off x="9144000" y="6456435"/>
            <a:ext cx="6649297" cy="1101118"/>
            <a:chOff x="0" y="0"/>
            <a:chExt cx="8865730" cy="1468158"/>
          </a:xfrm>
        </p:grpSpPr>
        <p:grpSp>
          <p:nvGrpSpPr>
            <p:cNvPr name="Group 37" id="37"/>
            <p:cNvGrpSpPr/>
            <p:nvPr/>
          </p:nvGrpSpPr>
          <p:grpSpPr>
            <a:xfrm rot="0">
              <a:off x="158889" y="158889"/>
              <a:ext cx="8706841" cy="1309269"/>
              <a:chOff x="0" y="0"/>
              <a:chExt cx="1695822" cy="255005"/>
            </a:xfrm>
          </p:grpSpPr>
          <p:sp>
            <p:nvSpPr>
              <p:cNvPr name="Freeform 38" id="38"/>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39" id="39"/>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0" y="0"/>
              <a:ext cx="8706841" cy="1309269"/>
              <a:chOff x="0" y="0"/>
              <a:chExt cx="1695822" cy="255005"/>
            </a:xfrm>
          </p:grpSpPr>
          <p:sp>
            <p:nvSpPr>
              <p:cNvPr name="Freeform 41" id="41"/>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42" id="42"/>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Outcomes and Results</a:t>
              </a:r>
            </a:p>
          </p:txBody>
        </p:sp>
      </p:grpSp>
      <p:grpSp>
        <p:nvGrpSpPr>
          <p:cNvPr name="Group 44" id="44"/>
          <p:cNvGrpSpPr/>
          <p:nvPr/>
        </p:nvGrpSpPr>
        <p:grpSpPr>
          <a:xfrm rot="0">
            <a:off x="9156941" y="8943588"/>
            <a:ext cx="6649297" cy="1101118"/>
            <a:chOff x="0" y="0"/>
            <a:chExt cx="8865730" cy="1468158"/>
          </a:xfrm>
        </p:grpSpPr>
        <p:grpSp>
          <p:nvGrpSpPr>
            <p:cNvPr name="Group 45" id="45"/>
            <p:cNvGrpSpPr/>
            <p:nvPr/>
          </p:nvGrpSpPr>
          <p:grpSpPr>
            <a:xfrm rot="0">
              <a:off x="158889" y="158889"/>
              <a:ext cx="8706841" cy="1309269"/>
              <a:chOff x="0" y="0"/>
              <a:chExt cx="1695822" cy="255005"/>
            </a:xfrm>
          </p:grpSpPr>
          <p:sp>
            <p:nvSpPr>
              <p:cNvPr name="Freeform 46" id="46"/>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47" id="47"/>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0" y="0"/>
              <a:ext cx="8706841" cy="1309269"/>
              <a:chOff x="0" y="0"/>
              <a:chExt cx="1695822" cy="255005"/>
            </a:xfrm>
          </p:grpSpPr>
          <p:sp>
            <p:nvSpPr>
              <p:cNvPr name="Freeform 49" id="49"/>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50" id="50"/>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Conclusion</a:t>
              </a:r>
            </a:p>
          </p:txBody>
        </p:sp>
      </p:grpSp>
      <p:grpSp>
        <p:nvGrpSpPr>
          <p:cNvPr name="Group 52" id="52"/>
          <p:cNvGrpSpPr/>
          <p:nvPr/>
        </p:nvGrpSpPr>
        <p:grpSpPr>
          <a:xfrm rot="0">
            <a:off x="9156941" y="7719478"/>
            <a:ext cx="6649297" cy="1101118"/>
            <a:chOff x="0" y="0"/>
            <a:chExt cx="8865730" cy="1468158"/>
          </a:xfrm>
        </p:grpSpPr>
        <p:grpSp>
          <p:nvGrpSpPr>
            <p:cNvPr name="Group 53" id="53"/>
            <p:cNvGrpSpPr/>
            <p:nvPr/>
          </p:nvGrpSpPr>
          <p:grpSpPr>
            <a:xfrm rot="0">
              <a:off x="158889" y="158889"/>
              <a:ext cx="8706841" cy="1309269"/>
              <a:chOff x="0" y="0"/>
              <a:chExt cx="1695822" cy="255005"/>
            </a:xfrm>
          </p:grpSpPr>
          <p:sp>
            <p:nvSpPr>
              <p:cNvPr name="Freeform 54" id="54"/>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55" id="55"/>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56" id="56"/>
            <p:cNvGrpSpPr/>
            <p:nvPr/>
          </p:nvGrpSpPr>
          <p:grpSpPr>
            <a:xfrm rot="0">
              <a:off x="0" y="0"/>
              <a:ext cx="8706841" cy="1309269"/>
              <a:chOff x="0" y="0"/>
              <a:chExt cx="1695822" cy="255005"/>
            </a:xfrm>
          </p:grpSpPr>
          <p:sp>
            <p:nvSpPr>
              <p:cNvPr name="Freeform 57" id="57"/>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58" id="58"/>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834687" y="368676"/>
              <a:ext cx="7037466" cy="524292"/>
            </a:xfrm>
            <a:prstGeom prst="rect">
              <a:avLst/>
            </a:prstGeom>
          </p:spPr>
          <p:txBody>
            <a:bodyPr anchor="t" rtlCol="false" tIns="0" lIns="0" bIns="0" rIns="0">
              <a:spAutoFit/>
            </a:bodyPr>
            <a:lstStyle/>
            <a:p>
              <a:pPr algn="ctr">
                <a:lnSpc>
                  <a:spcPts val="3284"/>
                </a:lnSpc>
                <a:spcBef>
                  <a:spcPct val="0"/>
                </a:spcBef>
              </a:pPr>
              <a:r>
                <a:rPr lang="en-US" sz="2345">
                  <a:solidFill>
                    <a:srgbClr val="000000"/>
                  </a:solidFill>
                  <a:latin typeface="Glacial Indifference"/>
                  <a:ea typeface="Glacial Indifference"/>
                  <a:cs typeface="Glacial Indifference"/>
                  <a:sym typeface="Glacial Indifference"/>
                </a:rPr>
                <a:t>Challenges faced</a:t>
              </a:r>
            </a:p>
          </p:txBody>
        </p:sp>
      </p:grpSp>
      <p:grpSp>
        <p:nvGrpSpPr>
          <p:cNvPr name="Group 60" id="60"/>
          <p:cNvGrpSpPr/>
          <p:nvPr/>
        </p:nvGrpSpPr>
        <p:grpSpPr>
          <a:xfrm rot="0">
            <a:off x="9144000" y="5210551"/>
            <a:ext cx="6649297" cy="1101118"/>
            <a:chOff x="0" y="0"/>
            <a:chExt cx="8865730" cy="1468158"/>
          </a:xfrm>
        </p:grpSpPr>
        <p:grpSp>
          <p:nvGrpSpPr>
            <p:cNvPr name="Group 61" id="61"/>
            <p:cNvGrpSpPr/>
            <p:nvPr/>
          </p:nvGrpSpPr>
          <p:grpSpPr>
            <a:xfrm rot="0">
              <a:off x="158889" y="158889"/>
              <a:ext cx="8706841" cy="1309269"/>
              <a:chOff x="0" y="0"/>
              <a:chExt cx="1695822" cy="255005"/>
            </a:xfrm>
          </p:grpSpPr>
          <p:sp>
            <p:nvSpPr>
              <p:cNvPr name="Freeform 62" id="62"/>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AB574"/>
              </a:solidFill>
              <a:ln w="38100" cap="rnd">
                <a:solidFill>
                  <a:srgbClr val="2E2D2D"/>
                </a:solidFill>
                <a:prstDash val="solid"/>
                <a:round/>
              </a:ln>
            </p:spPr>
          </p:sp>
          <p:sp>
            <p:nvSpPr>
              <p:cNvPr name="TextBox 63" id="63"/>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grpSp>
          <p:nvGrpSpPr>
            <p:cNvPr name="Group 64" id="64"/>
            <p:cNvGrpSpPr/>
            <p:nvPr/>
          </p:nvGrpSpPr>
          <p:grpSpPr>
            <a:xfrm rot="0">
              <a:off x="0" y="0"/>
              <a:ext cx="8706841" cy="1309269"/>
              <a:chOff x="0" y="0"/>
              <a:chExt cx="1695822" cy="255005"/>
            </a:xfrm>
          </p:grpSpPr>
          <p:sp>
            <p:nvSpPr>
              <p:cNvPr name="Freeform 65" id="65"/>
              <p:cNvSpPr/>
              <p:nvPr/>
            </p:nvSpPr>
            <p:spPr>
              <a:xfrm flipH="false" flipV="false" rot="0">
                <a:off x="0" y="0"/>
                <a:ext cx="1695822" cy="255005"/>
              </a:xfrm>
              <a:custGeom>
                <a:avLst/>
                <a:gdLst/>
                <a:ahLst/>
                <a:cxnLst/>
                <a:rect r="r" b="b" t="t" l="l"/>
                <a:pathLst>
                  <a:path h="255005" w="1695822">
                    <a:moveTo>
                      <a:pt x="45425" y="0"/>
                    </a:moveTo>
                    <a:lnTo>
                      <a:pt x="1650398" y="0"/>
                    </a:lnTo>
                    <a:cubicBezTo>
                      <a:pt x="1675485" y="0"/>
                      <a:pt x="1695822" y="20337"/>
                      <a:pt x="1695822" y="45425"/>
                    </a:cubicBezTo>
                    <a:lnTo>
                      <a:pt x="1695822" y="209580"/>
                    </a:lnTo>
                    <a:cubicBezTo>
                      <a:pt x="1695822" y="221628"/>
                      <a:pt x="1691037" y="233182"/>
                      <a:pt x="1682518" y="241700"/>
                    </a:cubicBezTo>
                    <a:cubicBezTo>
                      <a:pt x="1673999" y="250219"/>
                      <a:pt x="1662445" y="255005"/>
                      <a:pt x="1650398" y="255005"/>
                    </a:cubicBezTo>
                    <a:lnTo>
                      <a:pt x="45425" y="255005"/>
                    </a:lnTo>
                    <a:cubicBezTo>
                      <a:pt x="33377" y="255005"/>
                      <a:pt x="21823" y="250219"/>
                      <a:pt x="13305" y="241700"/>
                    </a:cubicBezTo>
                    <a:cubicBezTo>
                      <a:pt x="4786" y="233182"/>
                      <a:pt x="0" y="221628"/>
                      <a:pt x="0" y="209580"/>
                    </a:cubicBezTo>
                    <a:lnTo>
                      <a:pt x="0" y="45425"/>
                    </a:lnTo>
                    <a:cubicBezTo>
                      <a:pt x="0" y="33377"/>
                      <a:pt x="4786" y="21823"/>
                      <a:pt x="13305" y="13305"/>
                    </a:cubicBezTo>
                    <a:cubicBezTo>
                      <a:pt x="21823" y="4786"/>
                      <a:pt x="33377" y="0"/>
                      <a:pt x="45425" y="0"/>
                    </a:cubicBezTo>
                    <a:close/>
                  </a:path>
                </a:pathLst>
              </a:custGeom>
              <a:solidFill>
                <a:srgbClr val="F1F5F8"/>
              </a:solidFill>
              <a:ln w="38100" cap="rnd">
                <a:solidFill>
                  <a:srgbClr val="2E2D2D"/>
                </a:solidFill>
                <a:prstDash val="solid"/>
                <a:round/>
              </a:ln>
            </p:spPr>
          </p:sp>
          <p:sp>
            <p:nvSpPr>
              <p:cNvPr name="TextBox 66" id="66"/>
              <p:cNvSpPr txBox="true"/>
              <p:nvPr/>
            </p:nvSpPr>
            <p:spPr>
              <a:xfrm>
                <a:off x="0" y="-38100"/>
                <a:ext cx="1695822" cy="293105"/>
              </a:xfrm>
              <a:prstGeom prst="rect">
                <a:avLst/>
              </a:prstGeom>
            </p:spPr>
            <p:txBody>
              <a:bodyPr anchor="ctr" rtlCol="false" tIns="50800" lIns="50800" bIns="50800" rIns="50800"/>
              <a:lstStyle/>
              <a:p>
                <a:pPr algn="ctr">
                  <a:lnSpc>
                    <a:spcPts val="2659"/>
                  </a:lnSpc>
                </a:pPr>
              </a:p>
            </p:txBody>
          </p:sp>
        </p:grpSp>
        <p:sp>
          <p:nvSpPr>
            <p:cNvPr name="TextBox 67" id="67"/>
            <p:cNvSpPr txBox="true"/>
            <p:nvPr/>
          </p:nvSpPr>
          <p:spPr>
            <a:xfrm rot="0">
              <a:off x="834687" y="368676"/>
              <a:ext cx="7037466" cy="1080404"/>
            </a:xfrm>
            <a:prstGeom prst="rect">
              <a:avLst/>
            </a:prstGeom>
          </p:spPr>
          <p:txBody>
            <a:bodyPr anchor="t" rtlCol="false" tIns="0" lIns="0" bIns="0" rIns="0">
              <a:spAutoFit/>
            </a:bodyPr>
            <a:lstStyle/>
            <a:p>
              <a:pPr algn="ctr">
                <a:lnSpc>
                  <a:spcPts val="3284"/>
                </a:lnSpc>
              </a:pPr>
              <a:r>
                <a:rPr lang="en-US" sz="2345">
                  <a:solidFill>
                    <a:srgbClr val="000000"/>
                  </a:solidFill>
                  <a:latin typeface="Glacial Indifference"/>
                  <a:ea typeface="Glacial Indifference"/>
                  <a:cs typeface="Glacial Indifference"/>
                  <a:sym typeface="Glacial Indifference"/>
                </a:rPr>
                <a:t>Code Modules</a:t>
              </a:r>
            </a:p>
            <a:p>
              <a:pPr algn="ctr">
                <a:lnSpc>
                  <a:spcPts val="3284"/>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5F8"/>
        </a:solidFill>
      </p:bgPr>
    </p:bg>
    <p:spTree>
      <p:nvGrpSpPr>
        <p:cNvPr id="1" name=""/>
        <p:cNvGrpSpPr/>
        <p:nvPr/>
      </p:nvGrpSpPr>
      <p:grpSpPr>
        <a:xfrm>
          <a:off x="0" y="0"/>
          <a:ext cx="0" cy="0"/>
          <a:chOff x="0" y="0"/>
          <a:chExt cx="0" cy="0"/>
        </a:xfrm>
      </p:grpSpPr>
      <p:grpSp>
        <p:nvGrpSpPr>
          <p:cNvPr name="Group 2" id="2"/>
          <p:cNvGrpSpPr/>
          <p:nvPr/>
        </p:nvGrpSpPr>
        <p:grpSpPr>
          <a:xfrm rot="0">
            <a:off x="1181100" y="1181100"/>
            <a:ext cx="8115300" cy="8229600"/>
            <a:chOff x="0" y="0"/>
            <a:chExt cx="2137363" cy="2167467"/>
          </a:xfrm>
        </p:grpSpPr>
        <p:sp>
          <p:nvSpPr>
            <p:cNvPr name="Freeform 3" id="3"/>
            <p:cNvSpPr/>
            <p:nvPr/>
          </p:nvSpPr>
          <p:spPr>
            <a:xfrm flipH="false" flipV="false" rot="0">
              <a:off x="0" y="0"/>
              <a:ext cx="2137363" cy="2167467"/>
            </a:xfrm>
            <a:custGeom>
              <a:avLst/>
              <a:gdLst/>
              <a:ahLst/>
              <a:cxnLst/>
              <a:rect r="r" b="b" t="t" l="l"/>
              <a:pathLst>
                <a:path h="2167467" w="2137363">
                  <a:moveTo>
                    <a:pt x="46746" y="0"/>
                  </a:moveTo>
                  <a:lnTo>
                    <a:pt x="2090617" y="0"/>
                  </a:lnTo>
                  <a:cubicBezTo>
                    <a:pt x="2103015" y="0"/>
                    <a:pt x="2114905" y="4925"/>
                    <a:pt x="2123672" y="13691"/>
                  </a:cubicBezTo>
                  <a:cubicBezTo>
                    <a:pt x="2132438" y="22458"/>
                    <a:pt x="2137363" y="34348"/>
                    <a:pt x="2137363" y="46746"/>
                  </a:cubicBezTo>
                  <a:lnTo>
                    <a:pt x="2137363" y="2120721"/>
                  </a:lnTo>
                  <a:cubicBezTo>
                    <a:pt x="2137363" y="2133119"/>
                    <a:pt x="2132438" y="2145009"/>
                    <a:pt x="2123672" y="2153775"/>
                  </a:cubicBezTo>
                  <a:cubicBezTo>
                    <a:pt x="2114905" y="2162542"/>
                    <a:pt x="2103015" y="2167467"/>
                    <a:pt x="2090617" y="2167467"/>
                  </a:cubicBezTo>
                  <a:lnTo>
                    <a:pt x="46746" y="2167467"/>
                  </a:lnTo>
                  <a:cubicBezTo>
                    <a:pt x="34348" y="2167467"/>
                    <a:pt x="22458" y="2162542"/>
                    <a:pt x="13691" y="2153775"/>
                  </a:cubicBezTo>
                  <a:cubicBezTo>
                    <a:pt x="4925" y="2145009"/>
                    <a:pt x="0" y="2133119"/>
                    <a:pt x="0" y="2120721"/>
                  </a:cubicBezTo>
                  <a:lnTo>
                    <a:pt x="0" y="46746"/>
                  </a:lnTo>
                  <a:cubicBezTo>
                    <a:pt x="0" y="34348"/>
                    <a:pt x="4925" y="22458"/>
                    <a:pt x="13691" y="13691"/>
                  </a:cubicBezTo>
                  <a:cubicBezTo>
                    <a:pt x="22458" y="4925"/>
                    <a:pt x="34348" y="0"/>
                    <a:pt x="46746" y="0"/>
                  </a:cubicBezTo>
                  <a:close/>
                </a:path>
              </a:pathLst>
            </a:custGeom>
            <a:solidFill>
              <a:srgbClr val="FAB574"/>
            </a:solidFill>
            <a:ln w="38100" cap="rnd">
              <a:solidFill>
                <a:srgbClr val="2E2D2D"/>
              </a:solidFill>
              <a:prstDash val="solid"/>
              <a:round/>
            </a:ln>
          </p:spPr>
        </p:sp>
        <p:sp>
          <p:nvSpPr>
            <p:cNvPr name="TextBox 4" id="4"/>
            <p:cNvSpPr txBox="true"/>
            <p:nvPr/>
          </p:nvSpPr>
          <p:spPr>
            <a:xfrm>
              <a:off x="0" y="-38100"/>
              <a:ext cx="2137363" cy="2205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28700"/>
            <a:ext cx="8115300" cy="8229600"/>
            <a:chOff x="0" y="0"/>
            <a:chExt cx="2137363" cy="2167467"/>
          </a:xfrm>
        </p:grpSpPr>
        <p:sp>
          <p:nvSpPr>
            <p:cNvPr name="Freeform 6" id="6"/>
            <p:cNvSpPr/>
            <p:nvPr/>
          </p:nvSpPr>
          <p:spPr>
            <a:xfrm flipH="false" flipV="false" rot="0">
              <a:off x="0" y="0"/>
              <a:ext cx="2137363" cy="2167467"/>
            </a:xfrm>
            <a:custGeom>
              <a:avLst/>
              <a:gdLst/>
              <a:ahLst/>
              <a:cxnLst/>
              <a:rect r="r" b="b" t="t" l="l"/>
              <a:pathLst>
                <a:path h="2167467" w="2137363">
                  <a:moveTo>
                    <a:pt x="46746" y="0"/>
                  </a:moveTo>
                  <a:lnTo>
                    <a:pt x="2090617" y="0"/>
                  </a:lnTo>
                  <a:cubicBezTo>
                    <a:pt x="2103015" y="0"/>
                    <a:pt x="2114905" y="4925"/>
                    <a:pt x="2123672" y="13691"/>
                  </a:cubicBezTo>
                  <a:cubicBezTo>
                    <a:pt x="2132438" y="22458"/>
                    <a:pt x="2137363" y="34348"/>
                    <a:pt x="2137363" y="46746"/>
                  </a:cubicBezTo>
                  <a:lnTo>
                    <a:pt x="2137363" y="2120721"/>
                  </a:lnTo>
                  <a:cubicBezTo>
                    <a:pt x="2137363" y="2133119"/>
                    <a:pt x="2132438" y="2145009"/>
                    <a:pt x="2123672" y="2153775"/>
                  </a:cubicBezTo>
                  <a:cubicBezTo>
                    <a:pt x="2114905" y="2162542"/>
                    <a:pt x="2103015" y="2167467"/>
                    <a:pt x="2090617" y="2167467"/>
                  </a:cubicBezTo>
                  <a:lnTo>
                    <a:pt x="46746" y="2167467"/>
                  </a:lnTo>
                  <a:cubicBezTo>
                    <a:pt x="34348" y="2167467"/>
                    <a:pt x="22458" y="2162542"/>
                    <a:pt x="13691" y="2153775"/>
                  </a:cubicBezTo>
                  <a:cubicBezTo>
                    <a:pt x="4925" y="2145009"/>
                    <a:pt x="0" y="2133119"/>
                    <a:pt x="0" y="2120721"/>
                  </a:cubicBezTo>
                  <a:lnTo>
                    <a:pt x="0" y="46746"/>
                  </a:lnTo>
                  <a:cubicBezTo>
                    <a:pt x="0" y="34348"/>
                    <a:pt x="4925" y="22458"/>
                    <a:pt x="13691" y="13691"/>
                  </a:cubicBezTo>
                  <a:cubicBezTo>
                    <a:pt x="22458" y="4925"/>
                    <a:pt x="34348" y="0"/>
                    <a:pt x="46746" y="0"/>
                  </a:cubicBezTo>
                  <a:close/>
                </a:path>
              </a:pathLst>
            </a:custGeom>
            <a:solidFill>
              <a:srgbClr val="2E2D2D"/>
            </a:solidFill>
            <a:ln w="38100" cap="rnd">
              <a:solidFill>
                <a:srgbClr val="2E2D2D"/>
              </a:solidFill>
              <a:prstDash val="solid"/>
              <a:round/>
            </a:ln>
          </p:spPr>
        </p:sp>
        <p:sp>
          <p:nvSpPr>
            <p:cNvPr name="TextBox 7" id="7"/>
            <p:cNvSpPr txBox="true"/>
            <p:nvPr/>
          </p:nvSpPr>
          <p:spPr>
            <a:xfrm>
              <a:off x="0" y="-38100"/>
              <a:ext cx="2137363" cy="22055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false" rot="0">
            <a:off x="11159136" y="2500842"/>
            <a:ext cx="5486037" cy="4903146"/>
          </a:xfrm>
          <a:custGeom>
            <a:avLst/>
            <a:gdLst/>
            <a:ahLst/>
            <a:cxnLst/>
            <a:rect r="r" b="b" t="t" l="l"/>
            <a:pathLst>
              <a:path h="4903146" w="5486037">
                <a:moveTo>
                  <a:pt x="5486037" y="0"/>
                </a:moveTo>
                <a:lnTo>
                  <a:pt x="0" y="0"/>
                </a:lnTo>
                <a:lnTo>
                  <a:pt x="0" y="4903146"/>
                </a:lnTo>
                <a:lnTo>
                  <a:pt x="5486037" y="4903146"/>
                </a:lnTo>
                <a:lnTo>
                  <a:pt x="548603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787468" y="3963459"/>
            <a:ext cx="6878174" cy="4124325"/>
          </a:xfrm>
          <a:prstGeom prst="rect">
            <a:avLst/>
          </a:prstGeom>
        </p:spPr>
        <p:txBody>
          <a:bodyPr anchor="t" rtlCol="false" tIns="0" lIns="0" bIns="0" rIns="0">
            <a:spAutoFit/>
          </a:bodyPr>
          <a:lstStyle/>
          <a:p>
            <a:pPr algn="l">
              <a:lnSpc>
                <a:spcPts val="3600"/>
              </a:lnSpc>
            </a:pPr>
            <a:r>
              <a:rPr lang="en-US" sz="3000">
                <a:solidFill>
                  <a:srgbClr val="F1F5F8"/>
                </a:solidFill>
                <a:latin typeface="Glacial Indifference"/>
                <a:ea typeface="Glacial Indifference"/>
                <a:cs typeface="Glacial Indifference"/>
                <a:sym typeface="Glacial Indifference"/>
              </a:rPr>
              <a:t>To unde</a:t>
            </a:r>
            <a:r>
              <a:rPr lang="en-US" sz="3000">
                <a:solidFill>
                  <a:srgbClr val="F1F5F8"/>
                </a:solidFill>
                <a:latin typeface="Glacial Indifference"/>
                <a:ea typeface="Glacial Indifference"/>
                <a:cs typeface="Glacial Indifference"/>
                <a:sym typeface="Glacial Indifference"/>
              </a:rPr>
              <a:t>rstand and implement the core co</a:t>
            </a:r>
            <a:r>
              <a:rPr lang="en-US" sz="3000">
                <a:solidFill>
                  <a:srgbClr val="F1F5F8"/>
                </a:solidFill>
                <a:latin typeface="Glacial Indifference"/>
                <a:ea typeface="Glacial Indifference"/>
                <a:cs typeface="Glacial Indifference"/>
                <a:sym typeface="Glacial Indifference"/>
              </a:rPr>
              <a:t>nce</a:t>
            </a:r>
            <a:r>
              <a:rPr lang="en-US" sz="3000">
                <a:solidFill>
                  <a:srgbClr val="F1F5F8"/>
                </a:solidFill>
                <a:latin typeface="Glacial Indifference"/>
                <a:ea typeface="Glacial Indifference"/>
                <a:cs typeface="Glacial Indifference"/>
                <a:sym typeface="Glacial Indifference"/>
              </a:rPr>
              <a:t>pt</a:t>
            </a:r>
            <a:r>
              <a:rPr lang="en-US" sz="3000">
                <a:solidFill>
                  <a:srgbClr val="F1F5F8"/>
                </a:solidFill>
                <a:latin typeface="Glacial Indifference"/>
                <a:ea typeface="Glacial Indifference"/>
                <a:cs typeface="Glacial Indifference"/>
                <a:sym typeface="Glacial Indifference"/>
              </a:rPr>
              <a:t>s</a:t>
            </a:r>
            <a:r>
              <a:rPr lang="en-US" sz="3000">
                <a:solidFill>
                  <a:srgbClr val="F1F5F8"/>
                </a:solidFill>
                <a:latin typeface="Glacial Indifference"/>
                <a:ea typeface="Glacial Indifference"/>
                <a:cs typeface="Glacial Indifference"/>
                <a:sym typeface="Glacial Indifference"/>
              </a:rPr>
              <a:t> </a:t>
            </a:r>
            <a:r>
              <a:rPr lang="en-US" sz="3000">
                <a:solidFill>
                  <a:srgbClr val="F1F5F8"/>
                </a:solidFill>
                <a:latin typeface="Glacial Indifference"/>
                <a:ea typeface="Glacial Indifference"/>
                <a:cs typeface="Glacial Indifference"/>
                <a:sym typeface="Glacial Indifference"/>
              </a:rPr>
              <a:t>of </a:t>
            </a:r>
            <a:r>
              <a:rPr lang="en-US" sz="3000">
                <a:solidFill>
                  <a:srgbClr val="F1F5F8"/>
                </a:solidFill>
                <a:latin typeface="Glacial Indifference"/>
                <a:ea typeface="Glacial Indifference"/>
                <a:cs typeface="Glacial Indifference"/>
                <a:sym typeface="Glacial Indifference"/>
              </a:rPr>
              <a:t>t</a:t>
            </a:r>
            <a:r>
              <a:rPr lang="en-US" sz="3000">
                <a:solidFill>
                  <a:srgbClr val="F1F5F8"/>
                </a:solidFill>
                <a:latin typeface="Glacial Indifference"/>
                <a:ea typeface="Glacial Indifference"/>
                <a:cs typeface="Glacial Indifference"/>
                <a:sym typeface="Glacial Indifference"/>
              </a:rPr>
              <a:t>h</a:t>
            </a:r>
            <a:r>
              <a:rPr lang="en-US" sz="3000">
                <a:solidFill>
                  <a:srgbClr val="F1F5F8"/>
                </a:solidFill>
                <a:latin typeface="Glacial Indifference"/>
                <a:ea typeface="Glacial Indifference"/>
                <a:cs typeface="Glacial Indifference"/>
                <a:sym typeface="Glacial Indifference"/>
              </a:rPr>
              <a:t>e</a:t>
            </a:r>
            <a:r>
              <a:rPr lang="en-US" sz="3000">
                <a:solidFill>
                  <a:srgbClr val="F1F5F8"/>
                </a:solidFill>
                <a:latin typeface="Glacial Indifference"/>
                <a:ea typeface="Glacial Indifference"/>
                <a:cs typeface="Glacial Indifference"/>
                <a:sym typeface="Glacial Indifference"/>
              </a:rPr>
              <a:t> </a:t>
            </a:r>
            <a:r>
              <a:rPr lang="en-US" b="true" sz="3000">
                <a:solidFill>
                  <a:srgbClr val="F1F5F8"/>
                </a:solidFill>
                <a:latin typeface="Glacial Indifference Bold"/>
                <a:ea typeface="Glacial Indifference Bold"/>
                <a:cs typeface="Glacial Indifference Bold"/>
                <a:sym typeface="Glacial Indifference Bold"/>
              </a:rPr>
              <a:t>DICE-FER</a:t>
            </a:r>
            <a:r>
              <a:rPr lang="en-US" sz="3000">
                <a:solidFill>
                  <a:srgbClr val="F1F5F8"/>
                </a:solidFill>
                <a:latin typeface="Glacial Indifference"/>
                <a:ea typeface="Glacial Indifference"/>
                <a:cs typeface="Glacial Indifference"/>
                <a:sym typeface="Glacial Indifference"/>
              </a:rPr>
              <a:t> </a:t>
            </a:r>
            <a:r>
              <a:rPr lang="en-US" sz="3000">
                <a:solidFill>
                  <a:srgbClr val="F1F5F8"/>
                </a:solidFill>
                <a:latin typeface="Glacial Indifference"/>
                <a:ea typeface="Glacial Indifference"/>
                <a:cs typeface="Glacial Indifference"/>
                <a:sym typeface="Glacial Indifference"/>
              </a:rPr>
              <a:t>framew</a:t>
            </a:r>
            <a:r>
              <a:rPr lang="en-US" sz="3000">
                <a:solidFill>
                  <a:srgbClr val="F1F5F8"/>
                </a:solidFill>
                <a:latin typeface="Glacial Indifference"/>
                <a:ea typeface="Glacial Indifference"/>
                <a:cs typeface="Glacial Indifference"/>
                <a:sym typeface="Glacial Indifference"/>
              </a:rPr>
              <a:t>ork, whi</a:t>
            </a:r>
            <a:r>
              <a:rPr lang="en-US" sz="3000">
                <a:solidFill>
                  <a:srgbClr val="F1F5F8"/>
                </a:solidFill>
                <a:latin typeface="Glacial Indifference"/>
                <a:ea typeface="Glacial Indifference"/>
                <a:cs typeface="Glacial Indifference"/>
                <a:sym typeface="Glacial Indifference"/>
              </a:rPr>
              <a:t>ch decoupl</a:t>
            </a:r>
            <a:r>
              <a:rPr lang="en-US" sz="3000">
                <a:solidFill>
                  <a:srgbClr val="F1F5F8"/>
                </a:solidFill>
                <a:latin typeface="Glacial Indifference"/>
                <a:ea typeface="Glacial Indifference"/>
                <a:cs typeface="Glacial Indifference"/>
                <a:sym typeface="Glacial Indifference"/>
              </a:rPr>
              <a:t>es </a:t>
            </a:r>
            <a:r>
              <a:rPr lang="en-US" sz="3000">
                <a:solidFill>
                  <a:srgbClr val="F1F5F8"/>
                </a:solidFill>
                <a:latin typeface="Glacial Indifference"/>
                <a:ea typeface="Glacial Indifference"/>
                <a:cs typeface="Glacial Indifference"/>
                <a:sym typeface="Glacial Indifference"/>
              </a:rPr>
              <a:t>faci</a:t>
            </a:r>
            <a:r>
              <a:rPr lang="en-US" sz="3000">
                <a:solidFill>
                  <a:srgbClr val="F1F5F8"/>
                </a:solidFill>
                <a:latin typeface="Glacial Indifference"/>
                <a:ea typeface="Glacial Indifference"/>
                <a:cs typeface="Glacial Indifference"/>
                <a:sym typeface="Glacial Indifference"/>
              </a:rPr>
              <a:t>al expressions from i</a:t>
            </a:r>
            <a:r>
              <a:rPr lang="en-US" sz="3000">
                <a:solidFill>
                  <a:srgbClr val="F1F5F8"/>
                </a:solidFill>
                <a:latin typeface="Glacial Indifference"/>
                <a:ea typeface="Glacial Indifference"/>
                <a:cs typeface="Glacial Indifference"/>
                <a:sym typeface="Glacial Indifference"/>
              </a:rPr>
              <a:t>de</a:t>
            </a:r>
            <a:r>
              <a:rPr lang="en-US" sz="3000">
                <a:solidFill>
                  <a:srgbClr val="F1F5F8"/>
                </a:solidFill>
                <a:latin typeface="Glacial Indifference"/>
                <a:ea typeface="Glacial Indifference"/>
                <a:cs typeface="Glacial Indifference"/>
                <a:sym typeface="Glacial Indifference"/>
              </a:rPr>
              <a:t>nti</a:t>
            </a:r>
            <a:r>
              <a:rPr lang="en-US" sz="3000">
                <a:solidFill>
                  <a:srgbClr val="F1F5F8"/>
                </a:solidFill>
                <a:latin typeface="Glacial Indifference"/>
                <a:ea typeface="Glacial Indifference"/>
                <a:cs typeface="Glacial Indifference"/>
                <a:sym typeface="Glacial Indifference"/>
              </a:rPr>
              <a:t>ty f</a:t>
            </a:r>
            <a:r>
              <a:rPr lang="en-US" sz="3000">
                <a:solidFill>
                  <a:srgbClr val="F1F5F8"/>
                </a:solidFill>
                <a:latin typeface="Glacial Indifference"/>
                <a:ea typeface="Glacial Indifference"/>
                <a:cs typeface="Glacial Indifference"/>
                <a:sym typeface="Glacial Indifference"/>
              </a:rPr>
              <a:t>e</a:t>
            </a:r>
            <a:r>
              <a:rPr lang="en-US" sz="3000">
                <a:solidFill>
                  <a:srgbClr val="F1F5F8"/>
                </a:solidFill>
                <a:latin typeface="Glacial Indifference"/>
                <a:ea typeface="Glacial Indifference"/>
                <a:cs typeface="Glacial Indifference"/>
                <a:sym typeface="Glacial Indifference"/>
              </a:rPr>
              <a:t>atur</a:t>
            </a:r>
            <a:r>
              <a:rPr lang="en-US" sz="3000">
                <a:solidFill>
                  <a:srgbClr val="F1F5F8"/>
                </a:solidFill>
                <a:latin typeface="Glacial Indifference"/>
                <a:ea typeface="Glacial Indifference"/>
                <a:cs typeface="Glacial Indifference"/>
                <a:sym typeface="Glacial Indifference"/>
              </a:rPr>
              <a:t>e</a:t>
            </a:r>
            <a:r>
              <a:rPr lang="en-US" sz="3000">
                <a:solidFill>
                  <a:srgbClr val="F1F5F8"/>
                </a:solidFill>
                <a:latin typeface="Glacial Indifference"/>
                <a:ea typeface="Glacial Indifference"/>
                <a:cs typeface="Glacial Indifference"/>
                <a:sym typeface="Glacial Indifference"/>
              </a:rPr>
              <a:t>s</a:t>
            </a:r>
            <a:r>
              <a:rPr lang="en-US" sz="3000">
                <a:solidFill>
                  <a:srgbClr val="F1F5F8"/>
                </a:solidFill>
                <a:latin typeface="Glacial Indifference"/>
                <a:ea typeface="Glacial Indifference"/>
                <a:cs typeface="Glacial Indifference"/>
                <a:sym typeface="Glacial Indifference"/>
              </a:rPr>
              <a:t> using </a:t>
            </a:r>
            <a:r>
              <a:rPr lang="en-US" b="true" sz="3000">
                <a:solidFill>
                  <a:srgbClr val="F1F5F8"/>
                </a:solidFill>
                <a:latin typeface="Glacial Indifference Bold"/>
                <a:ea typeface="Glacial Indifference Bold"/>
                <a:cs typeface="Glacial Indifference Bold"/>
                <a:sym typeface="Glacial Indifference Bold"/>
              </a:rPr>
              <a:t>mutual information estimation</a:t>
            </a:r>
            <a:r>
              <a:rPr lang="en-US" sz="3000">
                <a:solidFill>
                  <a:srgbClr val="F1F5F8"/>
                </a:solidFill>
                <a:latin typeface="Glacial Indifference"/>
                <a:ea typeface="Glacial Indifference"/>
                <a:cs typeface="Glacial Indifference"/>
                <a:sym typeface="Glacial Indifference"/>
              </a:rPr>
              <a:t>—without relying on identity labels or image generation. This project focused on applying the method to a custom-built dataset in a real-world setting.</a:t>
            </a:r>
          </a:p>
        </p:txBody>
      </p:sp>
      <p:sp>
        <p:nvSpPr>
          <p:cNvPr name="TextBox 10" id="10"/>
          <p:cNvSpPr txBox="true"/>
          <p:nvPr/>
        </p:nvSpPr>
        <p:spPr>
          <a:xfrm rot="0">
            <a:off x="1787468" y="1551516"/>
            <a:ext cx="6597764" cy="1708151"/>
          </a:xfrm>
          <a:prstGeom prst="rect">
            <a:avLst/>
          </a:prstGeom>
        </p:spPr>
        <p:txBody>
          <a:bodyPr anchor="t" rtlCol="false" tIns="0" lIns="0" bIns="0" rIns="0">
            <a:spAutoFit/>
          </a:bodyPr>
          <a:lstStyle/>
          <a:p>
            <a:pPr algn="l">
              <a:lnSpc>
                <a:spcPts val="13999"/>
              </a:lnSpc>
            </a:pPr>
            <a:r>
              <a:rPr lang="en-US" sz="9999">
                <a:solidFill>
                  <a:srgbClr val="F1F5F8"/>
                </a:solidFill>
                <a:latin typeface="Squada One"/>
                <a:ea typeface="Squada One"/>
                <a:cs typeface="Squada One"/>
                <a:sym typeface="Squada One"/>
              </a:rPr>
              <a:t>Objective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5F8"/>
        </a:solidFill>
      </p:bgPr>
    </p:bg>
    <p:spTree>
      <p:nvGrpSpPr>
        <p:cNvPr id="1" name=""/>
        <p:cNvGrpSpPr/>
        <p:nvPr/>
      </p:nvGrpSpPr>
      <p:grpSpPr>
        <a:xfrm>
          <a:off x="0" y="0"/>
          <a:ext cx="0" cy="0"/>
          <a:chOff x="0" y="0"/>
          <a:chExt cx="0" cy="0"/>
        </a:xfrm>
      </p:grpSpPr>
      <p:grpSp>
        <p:nvGrpSpPr>
          <p:cNvPr name="Group 2" id="2"/>
          <p:cNvGrpSpPr/>
          <p:nvPr/>
        </p:nvGrpSpPr>
        <p:grpSpPr>
          <a:xfrm rot="0">
            <a:off x="9144000" y="1104900"/>
            <a:ext cx="8115300" cy="8229600"/>
            <a:chOff x="0" y="0"/>
            <a:chExt cx="2137363" cy="2167467"/>
          </a:xfrm>
        </p:grpSpPr>
        <p:sp>
          <p:nvSpPr>
            <p:cNvPr name="Freeform 3" id="3"/>
            <p:cNvSpPr/>
            <p:nvPr/>
          </p:nvSpPr>
          <p:spPr>
            <a:xfrm flipH="false" flipV="false" rot="0">
              <a:off x="0" y="0"/>
              <a:ext cx="2137363" cy="2167467"/>
            </a:xfrm>
            <a:custGeom>
              <a:avLst/>
              <a:gdLst/>
              <a:ahLst/>
              <a:cxnLst/>
              <a:rect r="r" b="b" t="t" l="l"/>
              <a:pathLst>
                <a:path h="2167467" w="2137363">
                  <a:moveTo>
                    <a:pt x="46746" y="0"/>
                  </a:moveTo>
                  <a:lnTo>
                    <a:pt x="2090617" y="0"/>
                  </a:lnTo>
                  <a:cubicBezTo>
                    <a:pt x="2103015" y="0"/>
                    <a:pt x="2114905" y="4925"/>
                    <a:pt x="2123672" y="13691"/>
                  </a:cubicBezTo>
                  <a:cubicBezTo>
                    <a:pt x="2132438" y="22458"/>
                    <a:pt x="2137363" y="34348"/>
                    <a:pt x="2137363" y="46746"/>
                  </a:cubicBezTo>
                  <a:lnTo>
                    <a:pt x="2137363" y="2120721"/>
                  </a:lnTo>
                  <a:cubicBezTo>
                    <a:pt x="2137363" y="2133119"/>
                    <a:pt x="2132438" y="2145009"/>
                    <a:pt x="2123672" y="2153775"/>
                  </a:cubicBezTo>
                  <a:cubicBezTo>
                    <a:pt x="2114905" y="2162542"/>
                    <a:pt x="2103015" y="2167467"/>
                    <a:pt x="2090617" y="2167467"/>
                  </a:cubicBezTo>
                  <a:lnTo>
                    <a:pt x="46746" y="2167467"/>
                  </a:lnTo>
                  <a:cubicBezTo>
                    <a:pt x="34348" y="2167467"/>
                    <a:pt x="22458" y="2162542"/>
                    <a:pt x="13691" y="2153775"/>
                  </a:cubicBezTo>
                  <a:cubicBezTo>
                    <a:pt x="4925" y="2145009"/>
                    <a:pt x="0" y="2133119"/>
                    <a:pt x="0" y="2120721"/>
                  </a:cubicBezTo>
                  <a:lnTo>
                    <a:pt x="0" y="46746"/>
                  </a:lnTo>
                  <a:cubicBezTo>
                    <a:pt x="0" y="34348"/>
                    <a:pt x="4925" y="22458"/>
                    <a:pt x="13691" y="13691"/>
                  </a:cubicBezTo>
                  <a:cubicBezTo>
                    <a:pt x="22458" y="4925"/>
                    <a:pt x="34348" y="0"/>
                    <a:pt x="46746" y="0"/>
                  </a:cubicBezTo>
                  <a:close/>
                </a:path>
              </a:pathLst>
            </a:custGeom>
            <a:solidFill>
              <a:srgbClr val="FAB574"/>
            </a:solidFill>
            <a:ln w="38100" cap="rnd">
              <a:solidFill>
                <a:srgbClr val="2E2D2D"/>
              </a:solidFill>
              <a:prstDash val="solid"/>
              <a:round/>
            </a:ln>
          </p:spPr>
        </p:sp>
        <p:sp>
          <p:nvSpPr>
            <p:cNvPr name="TextBox 4" id="4"/>
            <p:cNvSpPr txBox="true"/>
            <p:nvPr/>
          </p:nvSpPr>
          <p:spPr>
            <a:xfrm>
              <a:off x="0" y="-38100"/>
              <a:ext cx="2137363" cy="2205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91600" y="952500"/>
            <a:ext cx="8115300" cy="8229600"/>
            <a:chOff x="0" y="0"/>
            <a:chExt cx="2137363" cy="2167467"/>
          </a:xfrm>
        </p:grpSpPr>
        <p:sp>
          <p:nvSpPr>
            <p:cNvPr name="Freeform 6" id="6"/>
            <p:cNvSpPr/>
            <p:nvPr/>
          </p:nvSpPr>
          <p:spPr>
            <a:xfrm flipH="false" flipV="false" rot="0">
              <a:off x="0" y="0"/>
              <a:ext cx="2137363" cy="2167467"/>
            </a:xfrm>
            <a:custGeom>
              <a:avLst/>
              <a:gdLst/>
              <a:ahLst/>
              <a:cxnLst/>
              <a:rect r="r" b="b" t="t" l="l"/>
              <a:pathLst>
                <a:path h="2167467" w="2137363">
                  <a:moveTo>
                    <a:pt x="46746" y="0"/>
                  </a:moveTo>
                  <a:lnTo>
                    <a:pt x="2090617" y="0"/>
                  </a:lnTo>
                  <a:cubicBezTo>
                    <a:pt x="2103015" y="0"/>
                    <a:pt x="2114905" y="4925"/>
                    <a:pt x="2123672" y="13691"/>
                  </a:cubicBezTo>
                  <a:cubicBezTo>
                    <a:pt x="2132438" y="22458"/>
                    <a:pt x="2137363" y="34348"/>
                    <a:pt x="2137363" y="46746"/>
                  </a:cubicBezTo>
                  <a:lnTo>
                    <a:pt x="2137363" y="2120721"/>
                  </a:lnTo>
                  <a:cubicBezTo>
                    <a:pt x="2137363" y="2133119"/>
                    <a:pt x="2132438" y="2145009"/>
                    <a:pt x="2123672" y="2153775"/>
                  </a:cubicBezTo>
                  <a:cubicBezTo>
                    <a:pt x="2114905" y="2162542"/>
                    <a:pt x="2103015" y="2167467"/>
                    <a:pt x="2090617" y="2167467"/>
                  </a:cubicBezTo>
                  <a:lnTo>
                    <a:pt x="46746" y="2167467"/>
                  </a:lnTo>
                  <a:cubicBezTo>
                    <a:pt x="34348" y="2167467"/>
                    <a:pt x="22458" y="2162542"/>
                    <a:pt x="13691" y="2153775"/>
                  </a:cubicBezTo>
                  <a:cubicBezTo>
                    <a:pt x="4925" y="2145009"/>
                    <a:pt x="0" y="2133119"/>
                    <a:pt x="0" y="2120721"/>
                  </a:cubicBezTo>
                  <a:lnTo>
                    <a:pt x="0" y="46746"/>
                  </a:lnTo>
                  <a:cubicBezTo>
                    <a:pt x="0" y="34348"/>
                    <a:pt x="4925" y="22458"/>
                    <a:pt x="13691" y="13691"/>
                  </a:cubicBezTo>
                  <a:cubicBezTo>
                    <a:pt x="22458" y="4925"/>
                    <a:pt x="34348" y="0"/>
                    <a:pt x="46746" y="0"/>
                  </a:cubicBezTo>
                  <a:close/>
                </a:path>
              </a:pathLst>
            </a:custGeom>
            <a:solidFill>
              <a:srgbClr val="2E2D2D"/>
            </a:solidFill>
            <a:ln w="38100" cap="rnd">
              <a:solidFill>
                <a:srgbClr val="2E2D2D"/>
              </a:solidFill>
              <a:prstDash val="solid"/>
              <a:round/>
            </a:ln>
          </p:spPr>
        </p:sp>
        <p:sp>
          <p:nvSpPr>
            <p:cNvPr name="TextBox 7" id="7"/>
            <p:cNvSpPr txBox="true"/>
            <p:nvPr/>
          </p:nvSpPr>
          <p:spPr>
            <a:xfrm>
              <a:off x="0" y="-38100"/>
              <a:ext cx="2137363" cy="220556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633893" y="1866696"/>
            <a:ext cx="6830714" cy="7053519"/>
            <a:chOff x="0" y="0"/>
            <a:chExt cx="9107619" cy="9404692"/>
          </a:xfrm>
        </p:grpSpPr>
        <p:grpSp>
          <p:nvGrpSpPr>
            <p:cNvPr name="Group 9" id="9"/>
            <p:cNvGrpSpPr/>
            <p:nvPr/>
          </p:nvGrpSpPr>
          <p:grpSpPr>
            <a:xfrm rot="0">
              <a:off x="0" y="6566712"/>
              <a:ext cx="9107619" cy="2837980"/>
              <a:chOff x="0" y="0"/>
              <a:chExt cx="2286638" cy="712528"/>
            </a:xfrm>
          </p:grpSpPr>
          <p:sp>
            <p:nvSpPr>
              <p:cNvPr name="Freeform 10" id="10"/>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FAB574"/>
              </a:solidFill>
            </p:spPr>
          </p:sp>
          <p:sp>
            <p:nvSpPr>
              <p:cNvPr name="TextBox 11" id="11"/>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2" id="12"/>
            <p:cNvSpPr/>
            <p:nvPr/>
          </p:nvSpPr>
          <p:spPr>
            <a:xfrm flipH="false" flipV="false" rot="0">
              <a:off x="750676" y="7150646"/>
              <a:ext cx="1375566" cy="1670113"/>
            </a:xfrm>
            <a:custGeom>
              <a:avLst/>
              <a:gdLst/>
              <a:ahLst/>
              <a:cxnLst/>
              <a:rect r="r" b="b" t="t" l="l"/>
              <a:pathLst>
                <a:path h="1670113" w="1375566">
                  <a:moveTo>
                    <a:pt x="0" y="0"/>
                  </a:moveTo>
                  <a:lnTo>
                    <a:pt x="1375566" y="0"/>
                  </a:lnTo>
                  <a:lnTo>
                    <a:pt x="1375566" y="1670112"/>
                  </a:lnTo>
                  <a:lnTo>
                    <a:pt x="0" y="1670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3" id="13"/>
            <p:cNvSpPr/>
            <p:nvPr/>
          </p:nvSpPr>
          <p:spPr>
            <a:xfrm flipV="true">
              <a:off x="2738904" y="7578892"/>
              <a:ext cx="0" cy="985062"/>
            </a:xfrm>
            <a:prstGeom prst="line">
              <a:avLst/>
            </a:prstGeom>
            <a:ln cap="flat" w="50800">
              <a:solidFill>
                <a:srgbClr val="000000"/>
              </a:solidFill>
              <a:prstDash val="solid"/>
              <a:headEnd type="none" len="sm" w="sm"/>
              <a:tailEnd type="none" len="sm" w="sm"/>
            </a:ln>
          </p:spPr>
        </p:sp>
        <p:grpSp>
          <p:nvGrpSpPr>
            <p:cNvPr name="Group 14" id="14"/>
            <p:cNvGrpSpPr/>
            <p:nvPr/>
          </p:nvGrpSpPr>
          <p:grpSpPr>
            <a:xfrm rot="0">
              <a:off x="0" y="3284231"/>
              <a:ext cx="9107619" cy="2837980"/>
              <a:chOff x="0" y="0"/>
              <a:chExt cx="2286638" cy="712528"/>
            </a:xfrm>
          </p:grpSpPr>
          <p:sp>
            <p:nvSpPr>
              <p:cNvPr name="Freeform 15" id="15"/>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FAB574"/>
              </a:solidFill>
            </p:spPr>
          </p:sp>
          <p:sp>
            <p:nvSpPr>
              <p:cNvPr name="TextBox 16" id="16"/>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AutoShape 17" id="17"/>
            <p:cNvSpPr/>
            <p:nvPr/>
          </p:nvSpPr>
          <p:spPr>
            <a:xfrm flipV="true">
              <a:off x="2713504" y="4210690"/>
              <a:ext cx="0" cy="985062"/>
            </a:xfrm>
            <a:prstGeom prst="line">
              <a:avLst/>
            </a:prstGeom>
            <a:ln cap="flat" w="50800">
              <a:solidFill>
                <a:srgbClr val="000000"/>
              </a:solidFill>
              <a:prstDash val="solid"/>
              <a:headEnd type="none" len="sm" w="sm"/>
              <a:tailEnd type="none" len="sm" w="sm"/>
            </a:ln>
          </p:spPr>
        </p:sp>
        <p:sp>
          <p:nvSpPr>
            <p:cNvPr name="Freeform 18" id="18"/>
            <p:cNvSpPr/>
            <p:nvPr/>
          </p:nvSpPr>
          <p:spPr>
            <a:xfrm flipH="false" flipV="false" rot="0">
              <a:off x="750676" y="4003909"/>
              <a:ext cx="1396874" cy="1396874"/>
            </a:xfrm>
            <a:custGeom>
              <a:avLst/>
              <a:gdLst/>
              <a:ahLst/>
              <a:cxnLst/>
              <a:rect r="r" b="b" t="t" l="l"/>
              <a:pathLst>
                <a:path h="1396874" w="1396874">
                  <a:moveTo>
                    <a:pt x="0" y="0"/>
                  </a:moveTo>
                  <a:lnTo>
                    <a:pt x="1396875" y="0"/>
                  </a:lnTo>
                  <a:lnTo>
                    <a:pt x="1396875" y="1396874"/>
                  </a:lnTo>
                  <a:lnTo>
                    <a:pt x="0" y="1396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0" y="0"/>
              <a:ext cx="9107619" cy="2837980"/>
              <a:chOff x="0" y="0"/>
              <a:chExt cx="2286638" cy="712528"/>
            </a:xfrm>
          </p:grpSpPr>
          <p:sp>
            <p:nvSpPr>
              <p:cNvPr name="Freeform 20" id="20"/>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FAB574"/>
              </a:solidFill>
            </p:spPr>
          </p:sp>
          <p:sp>
            <p:nvSpPr>
              <p:cNvPr name="TextBox 21" id="21"/>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22" id="22"/>
            <p:cNvSpPr/>
            <p:nvPr/>
          </p:nvSpPr>
          <p:spPr>
            <a:xfrm flipH="false" flipV="false" rot="0">
              <a:off x="504542" y="838761"/>
              <a:ext cx="1867833" cy="1232770"/>
            </a:xfrm>
            <a:custGeom>
              <a:avLst/>
              <a:gdLst/>
              <a:ahLst/>
              <a:cxnLst/>
              <a:rect r="r" b="b" t="t" l="l"/>
              <a:pathLst>
                <a:path h="1232770" w="1867833">
                  <a:moveTo>
                    <a:pt x="0" y="0"/>
                  </a:moveTo>
                  <a:lnTo>
                    <a:pt x="1867834" y="0"/>
                  </a:lnTo>
                  <a:lnTo>
                    <a:pt x="1867834" y="1232770"/>
                  </a:lnTo>
                  <a:lnTo>
                    <a:pt x="0" y="12327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23" id="23"/>
            <p:cNvSpPr/>
            <p:nvPr/>
          </p:nvSpPr>
          <p:spPr>
            <a:xfrm flipV="true">
              <a:off x="2713504" y="1012181"/>
              <a:ext cx="0" cy="985062"/>
            </a:xfrm>
            <a:prstGeom prst="line">
              <a:avLst/>
            </a:prstGeom>
            <a:ln cap="flat" w="50800">
              <a:solidFill>
                <a:srgbClr val="000000"/>
              </a:solidFill>
              <a:prstDash val="solid"/>
              <a:headEnd type="none" len="sm" w="sm"/>
              <a:tailEnd type="none" len="sm" w="sm"/>
            </a:ln>
          </p:spPr>
        </p:sp>
        <p:sp>
          <p:nvSpPr>
            <p:cNvPr name="TextBox 24" id="24"/>
            <p:cNvSpPr txBox="true"/>
            <p:nvPr/>
          </p:nvSpPr>
          <p:spPr>
            <a:xfrm rot="0">
              <a:off x="3374342" y="442508"/>
              <a:ext cx="4742578" cy="1914865"/>
            </a:xfrm>
            <a:prstGeom prst="rect">
              <a:avLst/>
            </a:prstGeom>
          </p:spPr>
          <p:txBody>
            <a:bodyPr anchor="t" rtlCol="false" tIns="0" lIns="0" bIns="0" rIns="0">
              <a:spAutoFit/>
            </a:bodyPr>
            <a:lstStyle/>
            <a:p>
              <a:pPr algn="just" marL="0" indent="0" lvl="0">
                <a:lnSpc>
                  <a:spcPts val="2850"/>
                </a:lnSpc>
                <a:spcBef>
                  <a:spcPct val="0"/>
                </a:spcBef>
              </a:pPr>
              <a:r>
                <a:rPr lang="en-US" sz="2111" spc="33">
                  <a:solidFill>
                    <a:srgbClr val="1C2120"/>
                  </a:solidFill>
                  <a:latin typeface="DM Sans"/>
                  <a:ea typeface="DM Sans"/>
                  <a:cs typeface="DM Sans"/>
                  <a:sym typeface="DM Sans"/>
                </a:rPr>
                <a:t>Using </a:t>
              </a:r>
              <a:r>
                <a:rPr lang="en-US" sz="2111" spc="33" u="none">
                  <a:solidFill>
                    <a:srgbClr val="1C2120"/>
                  </a:solidFill>
                  <a:latin typeface="DM Sans"/>
                  <a:ea typeface="DM Sans"/>
                  <a:cs typeface="DM Sans"/>
                  <a:sym typeface="DM Sans"/>
                </a:rPr>
                <a:t>mutual information to extract shared expression features and remove identity confounders.</a:t>
              </a:r>
            </a:p>
          </p:txBody>
        </p:sp>
        <p:sp>
          <p:nvSpPr>
            <p:cNvPr name="TextBox 25" id="25"/>
            <p:cNvSpPr txBox="true"/>
            <p:nvPr/>
          </p:nvSpPr>
          <p:spPr>
            <a:xfrm rot="0">
              <a:off x="3374342" y="3726739"/>
              <a:ext cx="4742578" cy="1914865"/>
            </a:xfrm>
            <a:prstGeom prst="rect">
              <a:avLst/>
            </a:prstGeom>
          </p:spPr>
          <p:txBody>
            <a:bodyPr anchor="t" rtlCol="false" tIns="0" lIns="0" bIns="0" rIns="0">
              <a:spAutoFit/>
            </a:bodyPr>
            <a:lstStyle/>
            <a:p>
              <a:pPr algn="just" marL="0" indent="0" lvl="0">
                <a:lnSpc>
                  <a:spcPts val="2850"/>
                </a:lnSpc>
                <a:spcBef>
                  <a:spcPct val="0"/>
                </a:spcBef>
              </a:pPr>
              <a:r>
                <a:rPr lang="en-US" sz="2111" spc="33">
                  <a:solidFill>
                    <a:srgbClr val="1C2120"/>
                  </a:solidFill>
                  <a:latin typeface="DM Sans"/>
                  <a:ea typeface="DM Sans"/>
                  <a:cs typeface="DM Sans"/>
                  <a:sym typeface="DM Sans"/>
                </a:rPr>
                <a:t>Utilizing pai</a:t>
              </a:r>
              <a:r>
                <a:rPr lang="en-US" sz="2111" spc="33" u="none">
                  <a:solidFill>
                    <a:srgbClr val="1C2120"/>
                  </a:solidFill>
                  <a:latin typeface="DM Sans"/>
                  <a:ea typeface="DM Sans"/>
                  <a:cs typeface="DM Sans"/>
                  <a:sym typeface="DM Sans"/>
                </a:rPr>
                <a:t>red images with the same expression to decouple expression and identity representations.</a:t>
              </a:r>
            </a:p>
          </p:txBody>
        </p:sp>
      </p:grpSp>
      <p:grpSp>
        <p:nvGrpSpPr>
          <p:cNvPr name="Group 26" id="26"/>
          <p:cNvGrpSpPr/>
          <p:nvPr/>
        </p:nvGrpSpPr>
        <p:grpSpPr>
          <a:xfrm rot="0">
            <a:off x="11520314" y="1028700"/>
            <a:ext cx="3362672" cy="679639"/>
            <a:chOff x="0" y="0"/>
            <a:chExt cx="885642" cy="179000"/>
          </a:xfrm>
        </p:grpSpPr>
        <p:sp>
          <p:nvSpPr>
            <p:cNvPr name="Freeform 27" id="27"/>
            <p:cNvSpPr/>
            <p:nvPr/>
          </p:nvSpPr>
          <p:spPr>
            <a:xfrm flipH="false" flipV="false" rot="0">
              <a:off x="0" y="0"/>
              <a:ext cx="885642" cy="179000"/>
            </a:xfrm>
            <a:custGeom>
              <a:avLst/>
              <a:gdLst/>
              <a:ahLst/>
              <a:cxnLst/>
              <a:rect r="r" b="b" t="t" l="l"/>
              <a:pathLst>
                <a:path h="179000" w="885642">
                  <a:moveTo>
                    <a:pt x="89500" y="0"/>
                  </a:moveTo>
                  <a:lnTo>
                    <a:pt x="796142" y="0"/>
                  </a:lnTo>
                  <a:cubicBezTo>
                    <a:pt x="845572" y="0"/>
                    <a:pt x="885642" y="40070"/>
                    <a:pt x="885642" y="89500"/>
                  </a:cubicBezTo>
                  <a:lnTo>
                    <a:pt x="885642" y="89500"/>
                  </a:lnTo>
                  <a:cubicBezTo>
                    <a:pt x="885642" y="113237"/>
                    <a:pt x="876213" y="136001"/>
                    <a:pt x="859428" y="152786"/>
                  </a:cubicBezTo>
                  <a:cubicBezTo>
                    <a:pt x="842644" y="169570"/>
                    <a:pt x="819879" y="179000"/>
                    <a:pt x="796142" y="179000"/>
                  </a:cubicBezTo>
                  <a:lnTo>
                    <a:pt x="89500" y="179000"/>
                  </a:lnTo>
                  <a:cubicBezTo>
                    <a:pt x="40070" y="179000"/>
                    <a:pt x="0" y="138929"/>
                    <a:pt x="0" y="89500"/>
                  </a:cubicBezTo>
                  <a:lnTo>
                    <a:pt x="0" y="89500"/>
                  </a:lnTo>
                  <a:cubicBezTo>
                    <a:pt x="0" y="40070"/>
                    <a:pt x="40070" y="0"/>
                    <a:pt x="89500" y="0"/>
                  </a:cubicBezTo>
                  <a:close/>
                </a:path>
              </a:pathLst>
            </a:custGeom>
            <a:solidFill>
              <a:srgbClr val="F1F5F8"/>
            </a:solidFill>
          </p:spPr>
        </p:sp>
        <p:sp>
          <p:nvSpPr>
            <p:cNvPr name="TextBox 28" id="28"/>
            <p:cNvSpPr txBox="true"/>
            <p:nvPr/>
          </p:nvSpPr>
          <p:spPr>
            <a:xfrm>
              <a:off x="0" y="-57150"/>
              <a:ext cx="885642" cy="236150"/>
            </a:xfrm>
            <a:prstGeom prst="rect">
              <a:avLst/>
            </a:prstGeom>
          </p:spPr>
          <p:txBody>
            <a:bodyPr anchor="ctr" rtlCol="false" tIns="50800" lIns="50800" bIns="50800" rIns="50800"/>
            <a:lstStyle/>
            <a:p>
              <a:pPr algn="ctr">
                <a:lnSpc>
                  <a:spcPts val="4059"/>
                </a:lnSpc>
              </a:pPr>
              <a:r>
                <a:rPr lang="en-US" b="true" sz="2899">
                  <a:solidFill>
                    <a:srgbClr val="000000"/>
                  </a:solidFill>
                  <a:latin typeface="Open Sans Bold"/>
                  <a:ea typeface="Open Sans Bold"/>
                  <a:cs typeface="Open Sans Bold"/>
                  <a:sym typeface="Open Sans Bold"/>
                </a:rPr>
                <a:t>Solution</a:t>
              </a:r>
            </a:p>
          </p:txBody>
        </p:sp>
      </p:grpSp>
      <p:grpSp>
        <p:nvGrpSpPr>
          <p:cNvPr name="Group 29" id="29"/>
          <p:cNvGrpSpPr/>
          <p:nvPr/>
        </p:nvGrpSpPr>
        <p:grpSpPr>
          <a:xfrm rot="0">
            <a:off x="3424126" y="3183891"/>
            <a:ext cx="4845334" cy="679639"/>
            <a:chOff x="0" y="0"/>
            <a:chExt cx="1276137" cy="179000"/>
          </a:xfrm>
        </p:grpSpPr>
        <p:sp>
          <p:nvSpPr>
            <p:cNvPr name="Freeform 30" id="30"/>
            <p:cNvSpPr/>
            <p:nvPr/>
          </p:nvSpPr>
          <p:spPr>
            <a:xfrm flipH="false" flipV="false" rot="0">
              <a:off x="0" y="0"/>
              <a:ext cx="1276137" cy="179000"/>
            </a:xfrm>
            <a:custGeom>
              <a:avLst/>
              <a:gdLst/>
              <a:ahLst/>
              <a:cxnLst/>
              <a:rect r="r" b="b" t="t" l="l"/>
              <a:pathLst>
                <a:path h="179000" w="1276137">
                  <a:moveTo>
                    <a:pt x="81488" y="0"/>
                  </a:moveTo>
                  <a:lnTo>
                    <a:pt x="1194649" y="0"/>
                  </a:lnTo>
                  <a:cubicBezTo>
                    <a:pt x="1216261" y="0"/>
                    <a:pt x="1236988" y="8585"/>
                    <a:pt x="1252270" y="23867"/>
                  </a:cubicBezTo>
                  <a:cubicBezTo>
                    <a:pt x="1267552" y="39149"/>
                    <a:pt x="1276137" y="59876"/>
                    <a:pt x="1276137" y="81488"/>
                  </a:cubicBezTo>
                  <a:lnTo>
                    <a:pt x="1276137" y="97511"/>
                  </a:lnTo>
                  <a:cubicBezTo>
                    <a:pt x="1276137" y="119123"/>
                    <a:pt x="1267552" y="139850"/>
                    <a:pt x="1252270" y="155132"/>
                  </a:cubicBezTo>
                  <a:cubicBezTo>
                    <a:pt x="1236988" y="170414"/>
                    <a:pt x="1216261" y="179000"/>
                    <a:pt x="1194649" y="179000"/>
                  </a:cubicBezTo>
                  <a:lnTo>
                    <a:pt x="81488" y="179000"/>
                  </a:lnTo>
                  <a:cubicBezTo>
                    <a:pt x="59876" y="179000"/>
                    <a:pt x="39149" y="170414"/>
                    <a:pt x="23867" y="155132"/>
                  </a:cubicBezTo>
                  <a:cubicBezTo>
                    <a:pt x="8585" y="139850"/>
                    <a:pt x="0" y="119123"/>
                    <a:pt x="0" y="97511"/>
                  </a:cubicBezTo>
                  <a:lnTo>
                    <a:pt x="0" y="81488"/>
                  </a:lnTo>
                  <a:cubicBezTo>
                    <a:pt x="0" y="59876"/>
                    <a:pt x="8585" y="39149"/>
                    <a:pt x="23867" y="23867"/>
                  </a:cubicBezTo>
                  <a:cubicBezTo>
                    <a:pt x="39149" y="8585"/>
                    <a:pt x="59876" y="0"/>
                    <a:pt x="81488" y="0"/>
                  </a:cubicBezTo>
                  <a:close/>
                </a:path>
              </a:pathLst>
            </a:custGeom>
            <a:solidFill>
              <a:srgbClr val="F1F5F8"/>
            </a:solidFill>
          </p:spPr>
        </p:sp>
        <p:sp>
          <p:nvSpPr>
            <p:cNvPr name="TextBox 31" id="31"/>
            <p:cNvSpPr txBox="true"/>
            <p:nvPr/>
          </p:nvSpPr>
          <p:spPr>
            <a:xfrm>
              <a:off x="0" y="-57150"/>
              <a:ext cx="1276137" cy="236150"/>
            </a:xfrm>
            <a:prstGeom prst="rect">
              <a:avLst/>
            </a:prstGeom>
          </p:spPr>
          <p:txBody>
            <a:bodyPr anchor="ctr" rtlCol="false" tIns="50800" lIns="50800" bIns="50800" rIns="50800"/>
            <a:lstStyle/>
            <a:p>
              <a:pPr algn="ctr">
                <a:lnSpc>
                  <a:spcPts val="4059"/>
                </a:lnSpc>
              </a:pPr>
            </a:p>
          </p:txBody>
        </p:sp>
      </p:grpSp>
      <p:grpSp>
        <p:nvGrpSpPr>
          <p:cNvPr name="Group 32" id="32"/>
          <p:cNvGrpSpPr/>
          <p:nvPr/>
        </p:nvGrpSpPr>
        <p:grpSpPr>
          <a:xfrm rot="0">
            <a:off x="695261" y="1104900"/>
            <a:ext cx="8096996" cy="4447263"/>
            <a:chOff x="0" y="0"/>
            <a:chExt cx="2132542" cy="1171296"/>
          </a:xfrm>
        </p:grpSpPr>
        <p:sp>
          <p:nvSpPr>
            <p:cNvPr name="Freeform 33" id="33"/>
            <p:cNvSpPr/>
            <p:nvPr/>
          </p:nvSpPr>
          <p:spPr>
            <a:xfrm flipH="false" flipV="false" rot="0">
              <a:off x="0" y="0"/>
              <a:ext cx="2132542" cy="1171295"/>
            </a:xfrm>
            <a:custGeom>
              <a:avLst/>
              <a:gdLst/>
              <a:ahLst/>
              <a:cxnLst/>
              <a:rect r="r" b="b" t="t" l="l"/>
              <a:pathLst>
                <a:path h="1171295" w="2132542">
                  <a:moveTo>
                    <a:pt x="46851" y="0"/>
                  </a:moveTo>
                  <a:lnTo>
                    <a:pt x="2085691" y="0"/>
                  </a:lnTo>
                  <a:cubicBezTo>
                    <a:pt x="2098117" y="0"/>
                    <a:pt x="2110033" y="4936"/>
                    <a:pt x="2118820" y="13722"/>
                  </a:cubicBezTo>
                  <a:cubicBezTo>
                    <a:pt x="2127606" y="22509"/>
                    <a:pt x="2132542" y="34425"/>
                    <a:pt x="2132542" y="46851"/>
                  </a:cubicBezTo>
                  <a:lnTo>
                    <a:pt x="2132542" y="1124444"/>
                  </a:lnTo>
                  <a:cubicBezTo>
                    <a:pt x="2132542" y="1136870"/>
                    <a:pt x="2127606" y="1148787"/>
                    <a:pt x="2118820" y="1157573"/>
                  </a:cubicBezTo>
                  <a:cubicBezTo>
                    <a:pt x="2110033" y="1166359"/>
                    <a:pt x="2098117" y="1171295"/>
                    <a:pt x="2085691" y="1171295"/>
                  </a:cubicBezTo>
                  <a:lnTo>
                    <a:pt x="46851" y="1171295"/>
                  </a:lnTo>
                  <a:cubicBezTo>
                    <a:pt x="34425" y="1171295"/>
                    <a:pt x="22509" y="1166359"/>
                    <a:pt x="13722" y="1157573"/>
                  </a:cubicBezTo>
                  <a:cubicBezTo>
                    <a:pt x="4936" y="1148787"/>
                    <a:pt x="0" y="1136870"/>
                    <a:pt x="0" y="1124444"/>
                  </a:cubicBezTo>
                  <a:lnTo>
                    <a:pt x="0" y="46851"/>
                  </a:lnTo>
                  <a:cubicBezTo>
                    <a:pt x="0" y="34425"/>
                    <a:pt x="4936" y="22509"/>
                    <a:pt x="13722" y="13722"/>
                  </a:cubicBezTo>
                  <a:cubicBezTo>
                    <a:pt x="22509" y="4936"/>
                    <a:pt x="34425" y="0"/>
                    <a:pt x="46851" y="0"/>
                  </a:cubicBezTo>
                  <a:close/>
                </a:path>
              </a:pathLst>
            </a:custGeom>
            <a:solidFill>
              <a:srgbClr val="FAB574"/>
            </a:solidFill>
            <a:ln w="38100" cap="rnd">
              <a:solidFill>
                <a:srgbClr val="2E2D2D"/>
              </a:solidFill>
              <a:prstDash val="solid"/>
              <a:round/>
            </a:ln>
          </p:spPr>
        </p:sp>
        <p:sp>
          <p:nvSpPr>
            <p:cNvPr name="TextBox 34" id="34"/>
            <p:cNvSpPr txBox="true"/>
            <p:nvPr/>
          </p:nvSpPr>
          <p:spPr>
            <a:xfrm>
              <a:off x="0" y="-38100"/>
              <a:ext cx="2132542" cy="1209396"/>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582818" y="971550"/>
            <a:ext cx="8055348" cy="4421906"/>
            <a:chOff x="0" y="0"/>
            <a:chExt cx="2121573" cy="1164617"/>
          </a:xfrm>
        </p:grpSpPr>
        <p:sp>
          <p:nvSpPr>
            <p:cNvPr name="Freeform 36" id="36"/>
            <p:cNvSpPr/>
            <p:nvPr/>
          </p:nvSpPr>
          <p:spPr>
            <a:xfrm flipH="false" flipV="false" rot="0">
              <a:off x="0" y="0"/>
              <a:ext cx="2121573" cy="1164617"/>
            </a:xfrm>
            <a:custGeom>
              <a:avLst/>
              <a:gdLst/>
              <a:ahLst/>
              <a:cxnLst/>
              <a:rect r="r" b="b" t="t" l="l"/>
              <a:pathLst>
                <a:path h="1164617" w="2121573">
                  <a:moveTo>
                    <a:pt x="47093" y="0"/>
                  </a:moveTo>
                  <a:lnTo>
                    <a:pt x="2074480" y="0"/>
                  </a:lnTo>
                  <a:cubicBezTo>
                    <a:pt x="2100489" y="0"/>
                    <a:pt x="2121573" y="21084"/>
                    <a:pt x="2121573" y="47093"/>
                  </a:cubicBezTo>
                  <a:lnTo>
                    <a:pt x="2121573" y="1117524"/>
                  </a:lnTo>
                  <a:cubicBezTo>
                    <a:pt x="2121573" y="1143533"/>
                    <a:pt x="2100489" y="1164617"/>
                    <a:pt x="2074480" y="1164617"/>
                  </a:cubicBezTo>
                  <a:lnTo>
                    <a:pt x="47093" y="1164617"/>
                  </a:lnTo>
                  <a:cubicBezTo>
                    <a:pt x="21084" y="1164617"/>
                    <a:pt x="0" y="1143533"/>
                    <a:pt x="0" y="1117524"/>
                  </a:cubicBezTo>
                  <a:lnTo>
                    <a:pt x="0" y="47093"/>
                  </a:lnTo>
                  <a:cubicBezTo>
                    <a:pt x="0" y="21084"/>
                    <a:pt x="21084" y="0"/>
                    <a:pt x="47093" y="0"/>
                  </a:cubicBezTo>
                  <a:close/>
                </a:path>
              </a:pathLst>
            </a:custGeom>
            <a:solidFill>
              <a:srgbClr val="2E2D2D"/>
            </a:solidFill>
            <a:ln w="38100" cap="rnd">
              <a:solidFill>
                <a:srgbClr val="2E2D2D"/>
              </a:solidFill>
              <a:prstDash val="solid"/>
              <a:round/>
            </a:ln>
          </p:spPr>
        </p:sp>
        <p:sp>
          <p:nvSpPr>
            <p:cNvPr name="TextBox 37" id="37"/>
            <p:cNvSpPr txBox="true"/>
            <p:nvPr/>
          </p:nvSpPr>
          <p:spPr>
            <a:xfrm>
              <a:off x="0" y="-38100"/>
              <a:ext cx="2121573" cy="1202717"/>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556379" y="1680844"/>
            <a:ext cx="5851964" cy="3462656"/>
          </a:xfrm>
          <a:prstGeom prst="rect">
            <a:avLst/>
          </a:prstGeom>
        </p:spPr>
        <p:txBody>
          <a:bodyPr anchor="t" rtlCol="false" tIns="0" lIns="0" bIns="0" rIns="0">
            <a:spAutoFit/>
          </a:bodyPr>
          <a:lstStyle/>
          <a:p>
            <a:pPr algn="ctr">
              <a:lnSpc>
                <a:spcPts val="3919"/>
              </a:lnSpc>
              <a:spcBef>
                <a:spcPct val="0"/>
              </a:spcBef>
            </a:pPr>
            <a:r>
              <a:rPr lang="en-US" sz="2799">
                <a:solidFill>
                  <a:srgbClr val="F1F5F8"/>
                </a:solidFill>
                <a:latin typeface="Glacial Indifference"/>
                <a:ea typeface="Glacial Indifference"/>
                <a:cs typeface="Glacial Indifference"/>
                <a:sym typeface="Glacial Indifference"/>
              </a:rPr>
              <a:t>Facial Expression Recognition is often affected by identity-specific features, making it difficult to isolate the actual emotional expression . Prior methods use GANs or labels for disentanglement, but these are costly or impractical.</a:t>
            </a:r>
          </a:p>
        </p:txBody>
      </p:sp>
      <p:sp>
        <p:nvSpPr>
          <p:cNvPr name="TextBox 39" id="39"/>
          <p:cNvSpPr txBox="true"/>
          <p:nvPr/>
        </p:nvSpPr>
        <p:spPr>
          <a:xfrm rot="0">
            <a:off x="695261" y="1089754"/>
            <a:ext cx="7574199" cy="490856"/>
          </a:xfrm>
          <a:prstGeom prst="rect">
            <a:avLst/>
          </a:prstGeom>
        </p:spPr>
        <p:txBody>
          <a:bodyPr anchor="t" rtlCol="false" tIns="0" lIns="0" bIns="0" rIns="0">
            <a:spAutoFit/>
          </a:bodyPr>
          <a:lstStyle/>
          <a:p>
            <a:pPr algn="ctr">
              <a:lnSpc>
                <a:spcPts val="3919"/>
              </a:lnSpc>
              <a:spcBef>
                <a:spcPct val="0"/>
              </a:spcBef>
            </a:pPr>
            <a:r>
              <a:rPr lang="en-US" b="true" sz="2799">
                <a:solidFill>
                  <a:srgbClr val="FAB574"/>
                </a:solidFill>
                <a:latin typeface="Glacial Indifference Bold"/>
                <a:ea typeface="Glacial Indifference Bold"/>
                <a:cs typeface="Glacial Indifference Bold"/>
                <a:sym typeface="Glacial Indifference Bold"/>
              </a:rPr>
              <a:t>Summary of the paper</a:t>
            </a:r>
          </a:p>
        </p:txBody>
      </p:sp>
      <p:sp>
        <p:nvSpPr>
          <p:cNvPr name="TextBox 40" id="40"/>
          <p:cNvSpPr txBox="true"/>
          <p:nvPr/>
        </p:nvSpPr>
        <p:spPr>
          <a:xfrm rot="0">
            <a:off x="12161546" y="7389928"/>
            <a:ext cx="3517605" cy="737234"/>
          </a:xfrm>
          <a:prstGeom prst="rect">
            <a:avLst/>
          </a:prstGeom>
        </p:spPr>
        <p:txBody>
          <a:bodyPr anchor="t" rtlCol="false" tIns="0" lIns="0" bIns="0" rIns="0">
            <a:spAutoFit/>
          </a:bodyPr>
          <a:lstStyle/>
          <a:p>
            <a:pPr algn="ctr">
              <a:lnSpc>
                <a:spcPts val="2940"/>
              </a:lnSpc>
            </a:pPr>
            <a:r>
              <a:rPr lang="en-US" sz="2100">
                <a:solidFill>
                  <a:srgbClr val="1C2120"/>
                </a:solidFill>
                <a:latin typeface="DM Sans"/>
                <a:ea typeface="DM Sans"/>
                <a:cs typeface="DM Sans"/>
                <a:sym typeface="DM Sans"/>
              </a:rPr>
              <a:t>Avoidinng label dependency or costly image generation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sp>
        <p:nvSpPr>
          <p:cNvPr name="Freeform 2" id="2"/>
          <p:cNvSpPr/>
          <p:nvPr/>
        </p:nvSpPr>
        <p:spPr>
          <a:xfrm flipH="false" flipV="false" rot="0">
            <a:off x="10903937" y="3880621"/>
            <a:ext cx="4543948" cy="3612438"/>
          </a:xfrm>
          <a:custGeom>
            <a:avLst/>
            <a:gdLst/>
            <a:ahLst/>
            <a:cxnLst/>
            <a:rect r="r" b="b" t="t" l="l"/>
            <a:pathLst>
              <a:path h="3612438" w="4543948">
                <a:moveTo>
                  <a:pt x="0" y="0"/>
                </a:moveTo>
                <a:lnTo>
                  <a:pt x="4543947" y="0"/>
                </a:lnTo>
                <a:lnTo>
                  <a:pt x="4543947" y="3612438"/>
                </a:lnTo>
                <a:lnTo>
                  <a:pt x="0" y="3612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796261" y="1862930"/>
            <a:ext cx="1463216" cy="146321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567318" y="3531391"/>
            <a:ext cx="1463216" cy="14632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5567318" y="6761451"/>
            <a:ext cx="1463216" cy="14632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028119" y="2473636"/>
            <a:ext cx="1463216" cy="146321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0388852" y="2901126"/>
            <a:ext cx="741751" cy="608236"/>
          </a:xfrm>
          <a:custGeom>
            <a:avLst/>
            <a:gdLst/>
            <a:ahLst/>
            <a:cxnLst/>
            <a:rect r="r" b="b" t="t" l="l"/>
            <a:pathLst>
              <a:path h="608236" w="741751">
                <a:moveTo>
                  <a:pt x="0" y="0"/>
                </a:moveTo>
                <a:lnTo>
                  <a:pt x="741751" y="0"/>
                </a:lnTo>
                <a:lnTo>
                  <a:pt x="741751" y="608236"/>
                </a:lnTo>
                <a:lnTo>
                  <a:pt x="0" y="6082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3175910" y="2167216"/>
            <a:ext cx="703917" cy="854645"/>
          </a:xfrm>
          <a:custGeom>
            <a:avLst/>
            <a:gdLst/>
            <a:ahLst/>
            <a:cxnLst/>
            <a:rect r="r" b="b" t="t" l="l"/>
            <a:pathLst>
              <a:path h="854645" w="703917">
                <a:moveTo>
                  <a:pt x="0" y="0"/>
                </a:moveTo>
                <a:lnTo>
                  <a:pt x="703917" y="0"/>
                </a:lnTo>
                <a:lnTo>
                  <a:pt x="703917" y="854645"/>
                </a:lnTo>
                <a:lnTo>
                  <a:pt x="0" y="8546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5804764" y="3936852"/>
            <a:ext cx="988326" cy="652295"/>
          </a:xfrm>
          <a:custGeom>
            <a:avLst/>
            <a:gdLst/>
            <a:ahLst/>
            <a:cxnLst/>
            <a:rect r="r" b="b" t="t" l="l"/>
            <a:pathLst>
              <a:path h="652295" w="988326">
                <a:moveTo>
                  <a:pt x="0" y="0"/>
                </a:moveTo>
                <a:lnTo>
                  <a:pt x="988326" y="0"/>
                </a:lnTo>
                <a:lnTo>
                  <a:pt x="988326" y="652295"/>
                </a:lnTo>
                <a:lnTo>
                  <a:pt x="0" y="6522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5875201" y="7074727"/>
            <a:ext cx="847451" cy="836665"/>
          </a:xfrm>
          <a:custGeom>
            <a:avLst/>
            <a:gdLst/>
            <a:ahLst/>
            <a:cxnLst/>
            <a:rect r="r" b="b" t="t" l="l"/>
            <a:pathLst>
              <a:path h="836665" w="847451">
                <a:moveTo>
                  <a:pt x="0" y="0"/>
                </a:moveTo>
                <a:lnTo>
                  <a:pt x="847451" y="0"/>
                </a:lnTo>
                <a:lnTo>
                  <a:pt x="847451" y="836665"/>
                </a:lnTo>
                <a:lnTo>
                  <a:pt x="0" y="8366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028700" y="1175943"/>
            <a:ext cx="8537476" cy="890952"/>
          </a:xfrm>
          <a:prstGeom prst="rect">
            <a:avLst/>
          </a:prstGeom>
        </p:spPr>
        <p:txBody>
          <a:bodyPr anchor="t" rtlCol="false" tIns="0" lIns="0" bIns="0" rIns="0">
            <a:spAutoFit/>
          </a:bodyPr>
          <a:lstStyle/>
          <a:p>
            <a:pPr algn="l">
              <a:lnSpc>
                <a:spcPts val="6467"/>
              </a:lnSpc>
            </a:pPr>
            <a:r>
              <a:rPr lang="en-US" sz="5672" b="true">
                <a:solidFill>
                  <a:srgbClr val="F1F5F8"/>
                </a:solidFill>
                <a:latin typeface="Poppins Bold"/>
                <a:ea typeface="Poppins Bold"/>
                <a:cs typeface="Poppins Bold"/>
                <a:sym typeface="Poppins Bold"/>
              </a:rPr>
              <a:t>TECHNICAL CONCEPTS</a:t>
            </a:r>
          </a:p>
        </p:txBody>
      </p:sp>
      <p:sp>
        <p:nvSpPr>
          <p:cNvPr name="TextBox 20" id="20"/>
          <p:cNvSpPr txBox="true"/>
          <p:nvPr/>
        </p:nvSpPr>
        <p:spPr>
          <a:xfrm rot="0">
            <a:off x="1182285" y="3425678"/>
            <a:ext cx="8037915" cy="1646069"/>
          </a:xfrm>
          <a:prstGeom prst="rect">
            <a:avLst/>
          </a:prstGeom>
        </p:spPr>
        <p:txBody>
          <a:bodyPr anchor="t" rtlCol="false" tIns="0" lIns="0" bIns="0" rIns="0">
            <a:spAutoFit/>
          </a:bodyPr>
          <a:lstStyle/>
          <a:p>
            <a:pPr algn="l" marL="0" indent="0" lvl="0">
              <a:lnSpc>
                <a:spcPts val="3089"/>
              </a:lnSpc>
              <a:spcBef>
                <a:spcPct val="0"/>
              </a:spcBef>
            </a:pPr>
            <a:r>
              <a:rPr lang="en-US" b="true" sz="2288" spc="137">
                <a:solidFill>
                  <a:srgbClr val="F1F5F8"/>
                </a:solidFill>
                <a:latin typeface="DM Sans Bold"/>
                <a:ea typeface="DM Sans Bold"/>
                <a:cs typeface="DM Sans Bold"/>
                <a:sym typeface="DM Sans Bold"/>
              </a:rPr>
              <a:t>MI m</a:t>
            </a:r>
            <a:r>
              <a:rPr lang="en-US" b="true" sz="2288" spc="137" u="none">
                <a:solidFill>
                  <a:srgbClr val="F1F5F8"/>
                </a:solidFill>
                <a:latin typeface="DM Sans Bold"/>
                <a:ea typeface="DM Sans Bold"/>
                <a:cs typeface="DM Sans Bold"/>
                <a:sym typeface="DM Sans Bold"/>
              </a:rPr>
              <a:t>easures the amount of information shared between two variables. It is estimated using the Donsker-Varadhan (DV) representation:</a:t>
            </a:r>
          </a:p>
          <a:p>
            <a:pPr algn="l" marL="0" indent="0" lvl="0">
              <a:lnSpc>
                <a:spcPts val="3909"/>
              </a:lnSpc>
              <a:spcBef>
                <a:spcPct val="0"/>
              </a:spcBef>
            </a:pPr>
          </a:p>
        </p:txBody>
      </p:sp>
      <p:grpSp>
        <p:nvGrpSpPr>
          <p:cNvPr name="Group 21" id="21"/>
          <p:cNvGrpSpPr/>
          <p:nvPr/>
        </p:nvGrpSpPr>
        <p:grpSpPr>
          <a:xfrm rot="0">
            <a:off x="1088312" y="2473636"/>
            <a:ext cx="6401520" cy="711132"/>
            <a:chOff x="0" y="0"/>
            <a:chExt cx="8535359" cy="948176"/>
          </a:xfrm>
        </p:grpSpPr>
        <p:grpSp>
          <p:nvGrpSpPr>
            <p:cNvPr name="Group 22" id="22"/>
            <p:cNvGrpSpPr/>
            <p:nvPr/>
          </p:nvGrpSpPr>
          <p:grpSpPr>
            <a:xfrm rot="0">
              <a:off x="0" y="0"/>
              <a:ext cx="8535359" cy="948176"/>
              <a:chOff x="0" y="0"/>
              <a:chExt cx="1387201" cy="154101"/>
            </a:xfrm>
          </p:grpSpPr>
          <p:sp>
            <p:nvSpPr>
              <p:cNvPr name="Freeform 23" id="23"/>
              <p:cNvSpPr/>
              <p:nvPr/>
            </p:nvSpPr>
            <p:spPr>
              <a:xfrm flipH="false" flipV="false" rot="0">
                <a:off x="0" y="0"/>
                <a:ext cx="1387201" cy="154101"/>
              </a:xfrm>
              <a:custGeom>
                <a:avLst/>
                <a:gdLst/>
                <a:ahLst/>
                <a:cxnLst/>
                <a:rect r="r" b="b" t="t" l="l"/>
                <a:pathLst>
                  <a:path h="154101" w="1387201">
                    <a:moveTo>
                      <a:pt x="74964" y="0"/>
                    </a:moveTo>
                    <a:lnTo>
                      <a:pt x="1312237" y="0"/>
                    </a:lnTo>
                    <a:cubicBezTo>
                      <a:pt x="1353638" y="0"/>
                      <a:pt x="1387201" y="33563"/>
                      <a:pt x="1387201" y="74964"/>
                    </a:cubicBezTo>
                    <a:lnTo>
                      <a:pt x="1387201" y="79137"/>
                    </a:lnTo>
                    <a:cubicBezTo>
                      <a:pt x="1387201" y="120539"/>
                      <a:pt x="1353638" y="154101"/>
                      <a:pt x="1312237" y="154101"/>
                    </a:cubicBezTo>
                    <a:lnTo>
                      <a:pt x="74964" y="154101"/>
                    </a:lnTo>
                    <a:cubicBezTo>
                      <a:pt x="33563" y="154101"/>
                      <a:pt x="0" y="120539"/>
                      <a:pt x="0" y="79137"/>
                    </a:cubicBezTo>
                    <a:lnTo>
                      <a:pt x="0" y="74964"/>
                    </a:lnTo>
                    <a:cubicBezTo>
                      <a:pt x="0" y="33563"/>
                      <a:pt x="33563" y="0"/>
                      <a:pt x="74964" y="0"/>
                    </a:cubicBezTo>
                    <a:close/>
                  </a:path>
                </a:pathLst>
              </a:custGeom>
              <a:solidFill>
                <a:srgbClr val="FAB574"/>
              </a:solidFill>
            </p:spPr>
          </p:sp>
          <p:sp>
            <p:nvSpPr>
              <p:cNvPr name="TextBox 24" id="24"/>
              <p:cNvSpPr txBox="true"/>
              <p:nvPr/>
            </p:nvSpPr>
            <p:spPr>
              <a:xfrm>
                <a:off x="0" y="-38100"/>
                <a:ext cx="1387201" cy="192201"/>
              </a:xfrm>
              <a:prstGeom prst="rect">
                <a:avLst/>
              </a:prstGeom>
            </p:spPr>
            <p:txBody>
              <a:bodyPr anchor="ctr" rtlCol="false" tIns="50800" lIns="50800" bIns="50800" rIns="50800"/>
              <a:lstStyle/>
              <a:p>
                <a:pPr algn="ctr">
                  <a:lnSpc>
                    <a:spcPts val="2660"/>
                  </a:lnSpc>
                </a:pPr>
              </a:p>
            </p:txBody>
          </p:sp>
        </p:grpSp>
        <p:sp>
          <p:nvSpPr>
            <p:cNvPr name="TextBox 25" id="25"/>
            <p:cNvSpPr txBox="true"/>
            <p:nvPr/>
          </p:nvSpPr>
          <p:spPr>
            <a:xfrm rot="0">
              <a:off x="1658404" y="215291"/>
              <a:ext cx="5298260" cy="527179"/>
            </a:xfrm>
            <a:prstGeom prst="rect">
              <a:avLst/>
            </a:prstGeom>
          </p:spPr>
          <p:txBody>
            <a:bodyPr anchor="t" rtlCol="false" tIns="0" lIns="0" bIns="0" rIns="0">
              <a:spAutoFit/>
            </a:bodyPr>
            <a:lstStyle/>
            <a:p>
              <a:pPr algn="ctr">
                <a:lnSpc>
                  <a:spcPts val="2875"/>
                </a:lnSpc>
              </a:pPr>
              <a:r>
                <a:rPr lang="en-US" b="true" sz="2662">
                  <a:solidFill>
                    <a:srgbClr val="2E2D2D"/>
                  </a:solidFill>
                  <a:latin typeface="Poppins Bold"/>
                  <a:ea typeface="Poppins Bold"/>
                  <a:cs typeface="Poppins Bold"/>
                  <a:sym typeface="Poppins Bold"/>
                </a:rPr>
                <a:t>MUTUAL INFORMATION</a:t>
              </a:r>
            </a:p>
          </p:txBody>
        </p:sp>
      </p:grpSp>
      <p:grpSp>
        <p:nvGrpSpPr>
          <p:cNvPr name="Group 26" id="26"/>
          <p:cNvGrpSpPr/>
          <p:nvPr/>
        </p:nvGrpSpPr>
        <p:grpSpPr>
          <a:xfrm rot="0">
            <a:off x="1028700" y="5977730"/>
            <a:ext cx="6461131" cy="711132"/>
            <a:chOff x="0" y="0"/>
            <a:chExt cx="8614842" cy="948176"/>
          </a:xfrm>
        </p:grpSpPr>
        <p:grpSp>
          <p:nvGrpSpPr>
            <p:cNvPr name="Group 27" id="27"/>
            <p:cNvGrpSpPr/>
            <p:nvPr/>
          </p:nvGrpSpPr>
          <p:grpSpPr>
            <a:xfrm rot="0">
              <a:off x="0" y="0"/>
              <a:ext cx="8614842" cy="948176"/>
              <a:chOff x="0" y="0"/>
              <a:chExt cx="1400119" cy="154101"/>
            </a:xfrm>
          </p:grpSpPr>
          <p:sp>
            <p:nvSpPr>
              <p:cNvPr name="Freeform 28" id="28"/>
              <p:cNvSpPr/>
              <p:nvPr/>
            </p:nvSpPr>
            <p:spPr>
              <a:xfrm flipH="false" flipV="false" rot="0">
                <a:off x="0" y="0"/>
                <a:ext cx="1400119" cy="154101"/>
              </a:xfrm>
              <a:custGeom>
                <a:avLst/>
                <a:gdLst/>
                <a:ahLst/>
                <a:cxnLst/>
                <a:rect r="r" b="b" t="t" l="l"/>
                <a:pathLst>
                  <a:path h="154101" w="1400119">
                    <a:moveTo>
                      <a:pt x="74272" y="0"/>
                    </a:moveTo>
                    <a:lnTo>
                      <a:pt x="1325846" y="0"/>
                    </a:lnTo>
                    <a:cubicBezTo>
                      <a:pt x="1366866" y="0"/>
                      <a:pt x="1400119" y="33253"/>
                      <a:pt x="1400119" y="74272"/>
                    </a:cubicBezTo>
                    <a:lnTo>
                      <a:pt x="1400119" y="79829"/>
                    </a:lnTo>
                    <a:cubicBezTo>
                      <a:pt x="1400119" y="99527"/>
                      <a:pt x="1392294" y="118419"/>
                      <a:pt x="1378365" y="132348"/>
                    </a:cubicBezTo>
                    <a:cubicBezTo>
                      <a:pt x="1364436" y="146276"/>
                      <a:pt x="1345545" y="154101"/>
                      <a:pt x="1325846" y="154101"/>
                    </a:cubicBezTo>
                    <a:lnTo>
                      <a:pt x="74272" y="154101"/>
                    </a:lnTo>
                    <a:cubicBezTo>
                      <a:pt x="54574" y="154101"/>
                      <a:pt x="35683" y="146276"/>
                      <a:pt x="21754" y="132348"/>
                    </a:cubicBezTo>
                    <a:cubicBezTo>
                      <a:pt x="7825" y="118419"/>
                      <a:pt x="0" y="99527"/>
                      <a:pt x="0" y="79829"/>
                    </a:cubicBezTo>
                    <a:lnTo>
                      <a:pt x="0" y="74272"/>
                    </a:lnTo>
                    <a:cubicBezTo>
                      <a:pt x="0" y="54574"/>
                      <a:pt x="7825" y="35683"/>
                      <a:pt x="21754" y="21754"/>
                    </a:cubicBezTo>
                    <a:cubicBezTo>
                      <a:pt x="35683" y="7825"/>
                      <a:pt x="54574" y="0"/>
                      <a:pt x="74272" y="0"/>
                    </a:cubicBezTo>
                    <a:close/>
                  </a:path>
                </a:pathLst>
              </a:custGeom>
              <a:solidFill>
                <a:srgbClr val="FAB574"/>
              </a:solidFill>
            </p:spPr>
          </p:sp>
          <p:sp>
            <p:nvSpPr>
              <p:cNvPr name="TextBox 29" id="29"/>
              <p:cNvSpPr txBox="true"/>
              <p:nvPr/>
            </p:nvSpPr>
            <p:spPr>
              <a:xfrm>
                <a:off x="0" y="-38100"/>
                <a:ext cx="1400119" cy="192201"/>
              </a:xfrm>
              <a:prstGeom prst="rect">
                <a:avLst/>
              </a:prstGeom>
            </p:spPr>
            <p:txBody>
              <a:bodyPr anchor="ctr" rtlCol="false" tIns="50800" lIns="50800" bIns="50800" rIns="50800"/>
              <a:lstStyle/>
              <a:p>
                <a:pPr algn="ctr">
                  <a:lnSpc>
                    <a:spcPts val="2660"/>
                  </a:lnSpc>
                </a:pPr>
              </a:p>
            </p:txBody>
          </p:sp>
        </p:grpSp>
        <p:sp>
          <p:nvSpPr>
            <p:cNvPr name="TextBox 30" id="30"/>
            <p:cNvSpPr txBox="true"/>
            <p:nvPr/>
          </p:nvSpPr>
          <p:spPr>
            <a:xfrm rot="0">
              <a:off x="1673847" y="215291"/>
              <a:ext cx="5347598" cy="527179"/>
            </a:xfrm>
            <a:prstGeom prst="rect">
              <a:avLst/>
            </a:prstGeom>
          </p:spPr>
          <p:txBody>
            <a:bodyPr anchor="t" rtlCol="false" tIns="0" lIns="0" bIns="0" rIns="0">
              <a:spAutoFit/>
            </a:bodyPr>
            <a:lstStyle/>
            <a:p>
              <a:pPr algn="ctr">
                <a:lnSpc>
                  <a:spcPts val="2875"/>
                </a:lnSpc>
              </a:pPr>
              <a:r>
                <a:rPr lang="en-US" b="true" sz="2662">
                  <a:solidFill>
                    <a:srgbClr val="1C2120"/>
                  </a:solidFill>
                  <a:latin typeface="Poppins Bold"/>
                  <a:ea typeface="Poppins Bold"/>
                  <a:cs typeface="Poppins Bold"/>
                  <a:sym typeface="Poppins Bold"/>
                </a:rPr>
                <a:t>CORE COMPONENTS</a:t>
              </a:r>
            </a:p>
          </p:txBody>
        </p:sp>
      </p:grpSp>
      <p:sp>
        <p:nvSpPr>
          <p:cNvPr name="TextBox 31" id="31"/>
          <p:cNvSpPr txBox="true"/>
          <p:nvPr/>
        </p:nvSpPr>
        <p:spPr>
          <a:xfrm rot="0">
            <a:off x="1028700" y="6903653"/>
            <a:ext cx="7680262" cy="1852285"/>
          </a:xfrm>
          <a:prstGeom prst="rect">
            <a:avLst/>
          </a:prstGeom>
        </p:spPr>
        <p:txBody>
          <a:bodyPr anchor="t" rtlCol="false" tIns="0" lIns="0" bIns="0" rIns="0">
            <a:spAutoFit/>
          </a:bodyPr>
          <a:lstStyle/>
          <a:p>
            <a:pPr algn="l" marL="597432" indent="-298716" lvl="1">
              <a:lnSpc>
                <a:spcPts val="3735"/>
              </a:lnSpc>
              <a:buFont typeface="Arial"/>
              <a:buChar char="•"/>
            </a:pPr>
            <a:r>
              <a:rPr lang="en-US" b="true" sz="2767" spc="166">
                <a:solidFill>
                  <a:srgbClr val="F1F5F8"/>
                </a:solidFill>
                <a:latin typeface="DM Sans Bold"/>
                <a:ea typeface="DM Sans Bold"/>
                <a:cs typeface="DM Sans Bold"/>
                <a:sym typeface="DM Sans Bold"/>
              </a:rPr>
              <a:t>Exp</a:t>
            </a:r>
            <a:r>
              <a:rPr lang="en-US" b="true" sz="2767" spc="166" u="none">
                <a:solidFill>
                  <a:srgbClr val="F1F5F8"/>
                </a:solidFill>
                <a:latin typeface="DM Sans Bold"/>
                <a:ea typeface="DM Sans Bold"/>
                <a:cs typeface="DM Sans Bold"/>
                <a:sym typeface="DM Sans Bold"/>
              </a:rPr>
              <a:t>ression Encoder (E_exp)</a:t>
            </a:r>
          </a:p>
          <a:p>
            <a:pPr algn="l" marL="597432" indent="-298716" lvl="1">
              <a:lnSpc>
                <a:spcPts val="3735"/>
              </a:lnSpc>
              <a:buFont typeface="Arial"/>
              <a:buChar char="•"/>
            </a:pPr>
            <a:r>
              <a:rPr lang="en-US" b="true" sz="2767" spc="166" u="none">
                <a:solidFill>
                  <a:srgbClr val="F1F5F8"/>
                </a:solidFill>
                <a:latin typeface="DM Sans Bold"/>
                <a:ea typeface="DM Sans Bold"/>
                <a:cs typeface="DM Sans Bold"/>
                <a:sym typeface="DM Sans Bold"/>
              </a:rPr>
              <a:t>Identity Encoder (E_id)</a:t>
            </a:r>
          </a:p>
          <a:p>
            <a:pPr algn="l" marL="597432" indent="-298716" lvl="1">
              <a:lnSpc>
                <a:spcPts val="3735"/>
              </a:lnSpc>
              <a:buFont typeface="Arial"/>
              <a:buChar char="•"/>
            </a:pPr>
            <a:r>
              <a:rPr lang="en-US" b="true" sz="2767" spc="166" u="none">
                <a:solidFill>
                  <a:srgbClr val="F1F5F8"/>
                </a:solidFill>
                <a:latin typeface="DM Sans Bold"/>
                <a:ea typeface="DM Sans Bold"/>
                <a:cs typeface="DM Sans Bold"/>
                <a:sym typeface="DM Sans Bold"/>
              </a:rPr>
              <a:t>Statistics Networks</a:t>
            </a:r>
          </a:p>
          <a:p>
            <a:pPr algn="l" marL="597432" indent="-298716" lvl="1">
              <a:lnSpc>
                <a:spcPts val="3735"/>
              </a:lnSpc>
              <a:buFont typeface="Arial"/>
              <a:buChar char="•"/>
            </a:pPr>
            <a:r>
              <a:rPr lang="en-US" b="true" sz="2767" spc="166" u="none">
                <a:solidFill>
                  <a:srgbClr val="F1F5F8"/>
                </a:solidFill>
                <a:latin typeface="DM Sans Bold"/>
                <a:ea typeface="DM Sans Bold"/>
                <a:cs typeface="DM Sans Bold"/>
                <a:sym typeface="DM Sans Bold"/>
              </a:rPr>
              <a:t>Discriminator (D)</a:t>
            </a:r>
          </a:p>
        </p:txBody>
      </p:sp>
      <p:sp>
        <p:nvSpPr>
          <p:cNvPr name="TextBox 32" id="32"/>
          <p:cNvSpPr txBox="true"/>
          <p:nvPr/>
        </p:nvSpPr>
        <p:spPr>
          <a:xfrm rot="0">
            <a:off x="1088312" y="5095875"/>
            <a:ext cx="8055688" cy="427106"/>
          </a:xfrm>
          <a:prstGeom prst="rect">
            <a:avLst/>
          </a:prstGeom>
        </p:spPr>
        <p:txBody>
          <a:bodyPr anchor="t" rtlCol="false" tIns="0" lIns="0" bIns="0" rIns="0">
            <a:spAutoFit/>
          </a:bodyPr>
          <a:lstStyle/>
          <a:p>
            <a:pPr algn="ctr">
              <a:lnSpc>
                <a:spcPts val="3516"/>
              </a:lnSpc>
            </a:pPr>
            <a:r>
              <a:rPr lang="en-US" sz="2511" i="true">
                <a:solidFill>
                  <a:srgbClr val="000000"/>
                </a:solidFill>
                <a:latin typeface="Atkinson Hyperlegible Italics"/>
                <a:ea typeface="Atkinson Hyperlegible Italics"/>
                <a:cs typeface="Atkinson Hyperlegible Italics"/>
                <a:sym typeface="Atkinson Hyperlegible Italics"/>
              </a:rPr>
              <a:t>I(M,Z)</a:t>
            </a:r>
            <a:r>
              <a:rPr lang="en-US" sz="2511" i="true">
                <a:solidFill>
                  <a:srgbClr val="000000"/>
                </a:solidFill>
                <a:latin typeface="Atkinson Hyperlegible Italics"/>
                <a:ea typeface="Atkinson Hyperlegible Italics"/>
                <a:cs typeface="Atkinson Hyperlegible Italics"/>
                <a:sym typeface="Atkinson Hyperlegible Italics"/>
              </a:rPr>
              <a:t> ≈ Ep[M,Z][ Uθ(m,z)]−log(Ep[M]p[Z][exp(Uθ(m,z))])</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grpSp>
        <p:nvGrpSpPr>
          <p:cNvPr name="Group 2" id="2"/>
          <p:cNvGrpSpPr/>
          <p:nvPr/>
        </p:nvGrpSpPr>
        <p:grpSpPr>
          <a:xfrm rot="0">
            <a:off x="1473553" y="201349"/>
            <a:ext cx="15340895" cy="1068933"/>
            <a:chOff x="0" y="0"/>
            <a:chExt cx="4040400" cy="281530"/>
          </a:xfrm>
        </p:grpSpPr>
        <p:sp>
          <p:nvSpPr>
            <p:cNvPr name="Freeform 3" id="3"/>
            <p:cNvSpPr/>
            <p:nvPr/>
          </p:nvSpPr>
          <p:spPr>
            <a:xfrm flipH="false" flipV="false" rot="0">
              <a:off x="0" y="0"/>
              <a:ext cx="4040400" cy="281530"/>
            </a:xfrm>
            <a:custGeom>
              <a:avLst/>
              <a:gdLst/>
              <a:ahLst/>
              <a:cxnLst/>
              <a:rect r="r" b="b" t="t" l="l"/>
              <a:pathLst>
                <a:path h="281530" w="4040400">
                  <a:moveTo>
                    <a:pt x="24728" y="0"/>
                  </a:moveTo>
                  <a:lnTo>
                    <a:pt x="4015672" y="0"/>
                  </a:lnTo>
                  <a:cubicBezTo>
                    <a:pt x="4022230" y="0"/>
                    <a:pt x="4028520" y="2605"/>
                    <a:pt x="4033158" y="7243"/>
                  </a:cubicBezTo>
                  <a:cubicBezTo>
                    <a:pt x="4037795" y="11880"/>
                    <a:pt x="4040400" y="18170"/>
                    <a:pt x="4040400" y="24728"/>
                  </a:cubicBezTo>
                  <a:lnTo>
                    <a:pt x="4040400" y="256802"/>
                  </a:lnTo>
                  <a:cubicBezTo>
                    <a:pt x="4040400" y="270459"/>
                    <a:pt x="4029329" y="281530"/>
                    <a:pt x="4015672" y="281530"/>
                  </a:cubicBezTo>
                  <a:lnTo>
                    <a:pt x="24728" y="281530"/>
                  </a:lnTo>
                  <a:cubicBezTo>
                    <a:pt x="18170" y="281530"/>
                    <a:pt x="11880" y="278924"/>
                    <a:pt x="7243" y="274287"/>
                  </a:cubicBezTo>
                  <a:cubicBezTo>
                    <a:pt x="2605" y="269650"/>
                    <a:pt x="0" y="263360"/>
                    <a:pt x="0" y="256802"/>
                  </a:cubicBezTo>
                  <a:lnTo>
                    <a:pt x="0" y="24728"/>
                  </a:lnTo>
                  <a:cubicBezTo>
                    <a:pt x="0" y="18170"/>
                    <a:pt x="2605" y="11880"/>
                    <a:pt x="7243" y="7243"/>
                  </a:cubicBezTo>
                  <a:cubicBezTo>
                    <a:pt x="11880" y="2605"/>
                    <a:pt x="18170" y="0"/>
                    <a:pt x="24728" y="0"/>
                  </a:cubicBezTo>
                  <a:close/>
                </a:path>
              </a:pathLst>
            </a:custGeom>
            <a:solidFill>
              <a:srgbClr val="F1F5F8"/>
            </a:solidFill>
            <a:ln w="38100" cap="rnd">
              <a:solidFill>
                <a:srgbClr val="2E2D2D"/>
              </a:solidFill>
              <a:prstDash val="solid"/>
              <a:round/>
            </a:ln>
          </p:spPr>
        </p:sp>
        <p:sp>
          <p:nvSpPr>
            <p:cNvPr name="TextBox 4" id="4"/>
            <p:cNvSpPr txBox="true"/>
            <p:nvPr/>
          </p:nvSpPr>
          <p:spPr>
            <a:xfrm>
              <a:off x="0" y="-104775"/>
              <a:ext cx="4040400" cy="386305"/>
            </a:xfrm>
            <a:prstGeom prst="rect">
              <a:avLst/>
            </a:prstGeom>
          </p:spPr>
          <p:txBody>
            <a:bodyPr anchor="ctr" rtlCol="false" tIns="50800" lIns="50800" bIns="50800" rIns="50800"/>
            <a:lstStyle/>
            <a:p>
              <a:pPr algn="ctr">
                <a:lnSpc>
                  <a:spcPts val="7139"/>
                </a:lnSpc>
              </a:pPr>
              <a:r>
                <a:rPr lang="en-US" sz="5099" b="true">
                  <a:solidFill>
                    <a:srgbClr val="000000"/>
                  </a:solidFill>
                  <a:latin typeface="Glacial Indifference Bold"/>
                  <a:ea typeface="Glacial Indifference Bold"/>
                  <a:cs typeface="Glacial Indifference Bold"/>
                  <a:sym typeface="Glacial Indifference Bold"/>
                </a:rPr>
                <a:t>Implementation Strategy</a:t>
              </a:r>
            </a:p>
          </p:txBody>
        </p:sp>
      </p:grpSp>
      <p:grpSp>
        <p:nvGrpSpPr>
          <p:cNvPr name="Group 5" id="5"/>
          <p:cNvGrpSpPr/>
          <p:nvPr/>
        </p:nvGrpSpPr>
        <p:grpSpPr>
          <a:xfrm rot="0">
            <a:off x="1541090" y="2651215"/>
            <a:ext cx="6315327" cy="5819980"/>
            <a:chOff x="0" y="0"/>
            <a:chExt cx="1909581" cy="1759802"/>
          </a:xfrm>
        </p:grpSpPr>
        <p:sp>
          <p:nvSpPr>
            <p:cNvPr name="Freeform 6" id="6"/>
            <p:cNvSpPr/>
            <p:nvPr/>
          </p:nvSpPr>
          <p:spPr>
            <a:xfrm flipH="false" flipV="false" rot="0">
              <a:off x="0" y="0"/>
              <a:ext cx="1909582" cy="1759802"/>
            </a:xfrm>
            <a:custGeom>
              <a:avLst/>
              <a:gdLst/>
              <a:ahLst/>
              <a:cxnLst/>
              <a:rect r="r" b="b" t="t" l="l"/>
              <a:pathLst>
                <a:path h="1759802" w="1909582">
                  <a:moveTo>
                    <a:pt x="0" y="0"/>
                  </a:moveTo>
                  <a:lnTo>
                    <a:pt x="1909582" y="0"/>
                  </a:lnTo>
                  <a:lnTo>
                    <a:pt x="1909582" y="1759802"/>
                  </a:lnTo>
                  <a:lnTo>
                    <a:pt x="0" y="1759802"/>
                  </a:lnTo>
                  <a:close/>
                </a:path>
              </a:pathLst>
            </a:custGeom>
            <a:solidFill>
              <a:srgbClr val="FAB574"/>
            </a:solidFill>
          </p:spPr>
        </p:sp>
        <p:sp>
          <p:nvSpPr>
            <p:cNvPr name="TextBox 7" id="7"/>
            <p:cNvSpPr txBox="true"/>
            <p:nvPr/>
          </p:nvSpPr>
          <p:spPr>
            <a:xfrm>
              <a:off x="0" y="-38100"/>
              <a:ext cx="1909581" cy="179790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38590" y="2797814"/>
            <a:ext cx="6120326" cy="1201626"/>
          </a:xfrm>
          <a:prstGeom prst="rect">
            <a:avLst/>
          </a:prstGeom>
        </p:spPr>
        <p:txBody>
          <a:bodyPr anchor="t" rtlCol="false" tIns="0" lIns="0" bIns="0" rIns="0">
            <a:spAutoFit/>
          </a:bodyPr>
          <a:lstStyle/>
          <a:p>
            <a:pPr algn="ctr">
              <a:lnSpc>
                <a:spcPts val="4807"/>
              </a:lnSpc>
            </a:pPr>
            <a:r>
              <a:rPr lang="en-US" sz="3434" b="true">
                <a:solidFill>
                  <a:srgbClr val="1C2120"/>
                </a:solidFill>
                <a:latin typeface="Atkinson Hyperlegible Bold"/>
                <a:ea typeface="Atkinson Hyperlegible Bold"/>
                <a:cs typeface="Atkinson Hyperlegible Bold"/>
                <a:sym typeface="Atkinson Hyperlegible Bold"/>
              </a:rPr>
              <a:t>Expression Representation Learning</a:t>
            </a:r>
          </a:p>
        </p:txBody>
      </p:sp>
      <p:sp>
        <p:nvSpPr>
          <p:cNvPr name="TextBox 9" id="9"/>
          <p:cNvSpPr txBox="true"/>
          <p:nvPr/>
        </p:nvSpPr>
        <p:spPr>
          <a:xfrm rot="0">
            <a:off x="1638590" y="4213317"/>
            <a:ext cx="5972416" cy="3938206"/>
          </a:xfrm>
          <a:prstGeom prst="rect">
            <a:avLst/>
          </a:prstGeom>
        </p:spPr>
        <p:txBody>
          <a:bodyPr anchor="t" rtlCol="false" tIns="0" lIns="0" bIns="0" rIns="0">
            <a:spAutoFit/>
          </a:bodyPr>
          <a:lstStyle/>
          <a:p>
            <a:pPr algn="l" marL="610464" indent="-305232" lvl="1">
              <a:lnSpc>
                <a:spcPts val="3958"/>
              </a:lnSpc>
              <a:buFont typeface="Arial"/>
              <a:buChar char="•"/>
            </a:pPr>
            <a:r>
              <a:rPr lang="en-US" sz="2827">
                <a:solidFill>
                  <a:srgbClr val="1C2120"/>
                </a:solidFill>
                <a:latin typeface="Canva Sans"/>
                <a:ea typeface="Canva Sans"/>
                <a:cs typeface="Canva Sans"/>
                <a:sym typeface="Canva Sans"/>
              </a:rPr>
              <a:t>Paire</a:t>
            </a:r>
            <a:r>
              <a:rPr lang="en-US" sz="2827">
                <a:solidFill>
                  <a:srgbClr val="1C2120"/>
                </a:solidFill>
                <a:latin typeface="Canva Sans"/>
                <a:ea typeface="Canva Sans"/>
                <a:cs typeface="Canva Sans"/>
                <a:sym typeface="Canva Sans"/>
              </a:rPr>
              <a:t>d images M and N (with same expressions) are fed through encoders.</a:t>
            </a:r>
          </a:p>
          <a:p>
            <a:pPr algn="l" marL="610464" indent="-305232" lvl="1">
              <a:lnSpc>
                <a:spcPts val="3958"/>
              </a:lnSpc>
              <a:buFont typeface="Arial"/>
              <a:buChar char="•"/>
            </a:pPr>
            <a:r>
              <a:rPr lang="en-US" sz="2827">
                <a:solidFill>
                  <a:srgbClr val="1C2120"/>
                </a:solidFill>
                <a:latin typeface="Canva Sans"/>
                <a:ea typeface="Canva Sans"/>
                <a:cs typeface="Canva Sans"/>
                <a:sym typeface="Canva Sans"/>
              </a:rPr>
              <a:t>MI is maximized between image M and N’s expression, and vice versa.</a:t>
            </a:r>
          </a:p>
          <a:p>
            <a:pPr algn="l" marL="610464" indent="-305232" lvl="1">
              <a:lnSpc>
                <a:spcPts val="3958"/>
              </a:lnSpc>
              <a:buFont typeface="Arial"/>
              <a:buChar char="•"/>
            </a:pPr>
            <a:r>
              <a:rPr lang="en-US" sz="2827">
                <a:solidFill>
                  <a:srgbClr val="1C2120"/>
                </a:solidFill>
                <a:latin typeface="Canva Sans"/>
                <a:ea typeface="Canva Sans"/>
                <a:cs typeface="Canva Sans"/>
                <a:sym typeface="Canva Sans"/>
              </a:rPr>
              <a:t>A swapping trick is used to remove identity information.</a:t>
            </a:r>
          </a:p>
        </p:txBody>
      </p:sp>
      <p:grpSp>
        <p:nvGrpSpPr>
          <p:cNvPr name="Group 10" id="10"/>
          <p:cNvGrpSpPr/>
          <p:nvPr/>
        </p:nvGrpSpPr>
        <p:grpSpPr>
          <a:xfrm rot="0">
            <a:off x="10374274" y="2651215"/>
            <a:ext cx="6315327" cy="5819966"/>
            <a:chOff x="0" y="0"/>
            <a:chExt cx="1909572" cy="1759839"/>
          </a:xfrm>
        </p:grpSpPr>
        <p:sp>
          <p:nvSpPr>
            <p:cNvPr name="Freeform 11" id="11"/>
            <p:cNvSpPr/>
            <p:nvPr/>
          </p:nvSpPr>
          <p:spPr>
            <a:xfrm flipH="false" flipV="false" rot="0">
              <a:off x="0" y="0"/>
              <a:ext cx="1909572" cy="1759839"/>
            </a:xfrm>
            <a:custGeom>
              <a:avLst/>
              <a:gdLst/>
              <a:ahLst/>
              <a:cxnLst/>
              <a:rect r="r" b="b" t="t" l="l"/>
              <a:pathLst>
                <a:path h="1759839" w="1909572">
                  <a:moveTo>
                    <a:pt x="1909572" y="0"/>
                  </a:moveTo>
                  <a:lnTo>
                    <a:pt x="1909572" y="1759839"/>
                  </a:lnTo>
                  <a:lnTo>
                    <a:pt x="0" y="1759839"/>
                  </a:lnTo>
                  <a:lnTo>
                    <a:pt x="0" y="0"/>
                  </a:lnTo>
                  <a:close/>
                </a:path>
              </a:pathLst>
            </a:custGeom>
            <a:solidFill>
              <a:srgbClr val="FAB574"/>
            </a:solidFill>
          </p:spPr>
        </p:sp>
        <p:sp>
          <p:nvSpPr>
            <p:cNvPr name="TextBox 12" id="12"/>
            <p:cNvSpPr txBox="true"/>
            <p:nvPr/>
          </p:nvSpPr>
          <p:spPr>
            <a:xfrm>
              <a:off x="0" y="-38100"/>
              <a:ext cx="1909572" cy="1797939"/>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471775" y="2797814"/>
            <a:ext cx="6120326" cy="1201626"/>
          </a:xfrm>
          <a:prstGeom prst="rect">
            <a:avLst/>
          </a:prstGeom>
        </p:spPr>
        <p:txBody>
          <a:bodyPr anchor="t" rtlCol="false" tIns="0" lIns="0" bIns="0" rIns="0">
            <a:spAutoFit/>
          </a:bodyPr>
          <a:lstStyle/>
          <a:p>
            <a:pPr algn="ctr">
              <a:lnSpc>
                <a:spcPts val="4807"/>
              </a:lnSpc>
            </a:pPr>
            <a:r>
              <a:rPr lang="en-US" sz="3434" b="true">
                <a:solidFill>
                  <a:srgbClr val="1C2120"/>
                </a:solidFill>
                <a:latin typeface="Atkinson Hyperlegible Bold"/>
                <a:ea typeface="Atkinson Hyperlegible Bold"/>
                <a:cs typeface="Atkinson Hyperlegible Bold"/>
                <a:sym typeface="Atkinson Hyperlegible Bold"/>
              </a:rPr>
              <a:t>Identity Representation Learning</a:t>
            </a:r>
          </a:p>
        </p:txBody>
      </p:sp>
      <p:sp>
        <p:nvSpPr>
          <p:cNvPr name="TextBox 14" id="14"/>
          <p:cNvSpPr txBox="true"/>
          <p:nvPr/>
        </p:nvSpPr>
        <p:spPr>
          <a:xfrm rot="0">
            <a:off x="10760373" y="3951815"/>
            <a:ext cx="5543129" cy="4181091"/>
          </a:xfrm>
          <a:prstGeom prst="rect">
            <a:avLst/>
          </a:prstGeom>
        </p:spPr>
        <p:txBody>
          <a:bodyPr anchor="t" rtlCol="false" tIns="0" lIns="0" bIns="0" rIns="0">
            <a:spAutoFit/>
          </a:bodyPr>
          <a:lstStyle/>
          <a:p>
            <a:pPr algn="l" marL="570005" indent="-285003" lvl="1">
              <a:lnSpc>
                <a:spcPts val="3696"/>
              </a:lnSpc>
              <a:buFont typeface="Arial"/>
              <a:buChar char="•"/>
            </a:pPr>
            <a:r>
              <a:rPr lang="en-US" sz="2640">
                <a:solidFill>
                  <a:srgbClr val="1C2120"/>
                </a:solidFill>
                <a:latin typeface="Canva Sans"/>
                <a:ea typeface="Canva Sans"/>
                <a:cs typeface="Canva Sans"/>
                <a:sym typeface="Canva Sans"/>
              </a:rPr>
              <a:t>Concatenate expression an</a:t>
            </a:r>
            <a:r>
              <a:rPr lang="en-US" sz="2640">
                <a:solidFill>
                  <a:srgbClr val="1C2120"/>
                </a:solidFill>
                <a:latin typeface="Canva Sans"/>
                <a:ea typeface="Canva Sans"/>
                <a:cs typeface="Canva Sans"/>
                <a:sym typeface="Canva Sans"/>
              </a:rPr>
              <a:t>d identity features to get total representation.</a:t>
            </a:r>
          </a:p>
          <a:p>
            <a:pPr algn="l" marL="570005" indent="-285003" lvl="1">
              <a:lnSpc>
                <a:spcPts val="3696"/>
              </a:lnSpc>
              <a:buFont typeface="Arial"/>
              <a:buChar char="•"/>
            </a:pPr>
            <a:r>
              <a:rPr lang="en-US" sz="2640">
                <a:solidFill>
                  <a:srgbClr val="1C2120"/>
                </a:solidFill>
                <a:latin typeface="Canva Sans"/>
                <a:ea typeface="Canva Sans"/>
                <a:cs typeface="Canva Sans"/>
                <a:sym typeface="Canva Sans"/>
              </a:rPr>
              <a:t>MI is maximized between the original image and total representation.</a:t>
            </a:r>
          </a:p>
          <a:p>
            <a:pPr algn="l" marL="570005" indent="-285003" lvl="1">
              <a:lnSpc>
                <a:spcPts val="3696"/>
              </a:lnSpc>
              <a:buFont typeface="Arial"/>
              <a:buChar char="•"/>
            </a:pPr>
            <a:r>
              <a:rPr lang="en-US" sz="2640">
                <a:solidFill>
                  <a:srgbClr val="1C2120"/>
                </a:solidFill>
                <a:latin typeface="Canva Sans"/>
                <a:ea typeface="Canva Sans"/>
                <a:cs typeface="Canva Sans"/>
                <a:sym typeface="Canva Sans"/>
              </a:rPr>
              <a:t>An adversarial loss minimizes MI between identity and expression features.</a:t>
            </a:r>
          </a:p>
        </p:txBody>
      </p:sp>
      <p:sp>
        <p:nvSpPr>
          <p:cNvPr name="Freeform 15" id="15"/>
          <p:cNvSpPr/>
          <p:nvPr/>
        </p:nvSpPr>
        <p:spPr>
          <a:xfrm flipH="false" flipV="false" rot="0">
            <a:off x="1717162" y="9290598"/>
            <a:ext cx="5963183" cy="422521"/>
          </a:xfrm>
          <a:custGeom>
            <a:avLst/>
            <a:gdLst/>
            <a:ahLst/>
            <a:cxnLst/>
            <a:rect r="r" b="b" t="t" l="l"/>
            <a:pathLst>
              <a:path h="422521" w="5963183">
                <a:moveTo>
                  <a:pt x="0" y="0"/>
                </a:moveTo>
                <a:lnTo>
                  <a:pt x="5963183" y="0"/>
                </a:lnTo>
                <a:lnTo>
                  <a:pt x="5963183" y="422521"/>
                </a:lnTo>
                <a:lnTo>
                  <a:pt x="0" y="422521"/>
                </a:lnTo>
                <a:lnTo>
                  <a:pt x="0" y="0"/>
                </a:lnTo>
                <a:close/>
              </a:path>
            </a:pathLst>
          </a:custGeom>
          <a:blipFill>
            <a:blip r:embed="rId2"/>
            <a:stretch>
              <a:fillRect l="0" t="-46995" r="0" b="-32501"/>
            </a:stretch>
          </a:blipFill>
        </p:spPr>
      </p:sp>
      <p:sp>
        <p:nvSpPr>
          <p:cNvPr name="Freeform 16" id="16"/>
          <p:cNvSpPr/>
          <p:nvPr/>
        </p:nvSpPr>
        <p:spPr>
          <a:xfrm flipH="false" flipV="false" rot="0">
            <a:off x="9407860" y="9256225"/>
            <a:ext cx="8248155" cy="456894"/>
          </a:xfrm>
          <a:custGeom>
            <a:avLst/>
            <a:gdLst/>
            <a:ahLst/>
            <a:cxnLst/>
            <a:rect r="r" b="b" t="t" l="l"/>
            <a:pathLst>
              <a:path h="456894" w="8248155">
                <a:moveTo>
                  <a:pt x="0" y="0"/>
                </a:moveTo>
                <a:lnTo>
                  <a:pt x="8248155" y="0"/>
                </a:lnTo>
                <a:lnTo>
                  <a:pt x="8248155" y="456894"/>
                </a:lnTo>
                <a:lnTo>
                  <a:pt x="0" y="456894"/>
                </a:lnTo>
                <a:lnTo>
                  <a:pt x="0" y="0"/>
                </a:lnTo>
                <a:close/>
              </a:path>
            </a:pathLst>
          </a:custGeom>
          <a:blipFill>
            <a:blip r:embed="rId3"/>
            <a:stretch>
              <a:fillRect l="0" t="-19777" r="0" b="-34959"/>
            </a:stretch>
          </a:blipFill>
        </p:spPr>
      </p:sp>
      <p:sp>
        <p:nvSpPr>
          <p:cNvPr name="TextBox 17" id="17"/>
          <p:cNvSpPr txBox="true"/>
          <p:nvPr/>
        </p:nvSpPr>
        <p:spPr>
          <a:xfrm rot="0">
            <a:off x="3633293" y="8549471"/>
            <a:ext cx="2130921" cy="563879"/>
          </a:xfrm>
          <a:prstGeom prst="rect">
            <a:avLst/>
          </a:prstGeom>
        </p:spPr>
        <p:txBody>
          <a:bodyPr anchor="t" rtlCol="false" tIns="0" lIns="0" bIns="0" rIns="0">
            <a:spAutoFit/>
          </a:bodyPr>
          <a:lstStyle/>
          <a:p>
            <a:pPr algn="ctr">
              <a:lnSpc>
                <a:spcPts val="4620"/>
              </a:lnSpc>
            </a:pPr>
            <a:r>
              <a:rPr lang="en-US" sz="3300" b="true">
                <a:solidFill>
                  <a:srgbClr val="F1F5F8"/>
                </a:solidFill>
                <a:latin typeface="Canva Sans Bold"/>
                <a:ea typeface="Canva Sans Bold"/>
                <a:cs typeface="Canva Sans Bold"/>
                <a:sym typeface="Canva Sans Bold"/>
              </a:rPr>
              <a:t>Final Loss:</a:t>
            </a:r>
          </a:p>
        </p:txBody>
      </p:sp>
      <p:sp>
        <p:nvSpPr>
          <p:cNvPr name="TextBox 18" id="18"/>
          <p:cNvSpPr txBox="true"/>
          <p:nvPr/>
        </p:nvSpPr>
        <p:spPr>
          <a:xfrm rot="0">
            <a:off x="12004068" y="8549471"/>
            <a:ext cx="3055739" cy="563879"/>
          </a:xfrm>
          <a:prstGeom prst="rect">
            <a:avLst/>
          </a:prstGeom>
        </p:spPr>
        <p:txBody>
          <a:bodyPr anchor="t" rtlCol="false" tIns="0" lIns="0" bIns="0" rIns="0">
            <a:spAutoFit/>
          </a:bodyPr>
          <a:lstStyle/>
          <a:p>
            <a:pPr algn="ctr">
              <a:lnSpc>
                <a:spcPts val="4620"/>
              </a:lnSpc>
            </a:pPr>
            <a:r>
              <a:rPr lang="en-US" sz="3300" b="true">
                <a:solidFill>
                  <a:srgbClr val="F1F5F8"/>
                </a:solidFill>
                <a:latin typeface="Canva Sans Bold"/>
                <a:ea typeface="Canva Sans Bold"/>
                <a:cs typeface="Canva Sans Bold"/>
                <a:sym typeface="Canva Sans Bold"/>
              </a:rPr>
              <a:t>Adversial Loss: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grpSp>
        <p:nvGrpSpPr>
          <p:cNvPr name="Group 2" id="2"/>
          <p:cNvGrpSpPr/>
          <p:nvPr/>
        </p:nvGrpSpPr>
        <p:grpSpPr>
          <a:xfrm rot="0">
            <a:off x="531753" y="325041"/>
            <a:ext cx="17004839" cy="9682020"/>
            <a:chOff x="0" y="0"/>
            <a:chExt cx="22673119" cy="12909361"/>
          </a:xfrm>
        </p:grpSpPr>
        <p:grpSp>
          <p:nvGrpSpPr>
            <p:cNvPr name="Group 3" id="3"/>
            <p:cNvGrpSpPr/>
            <p:nvPr/>
          </p:nvGrpSpPr>
          <p:grpSpPr>
            <a:xfrm rot="0">
              <a:off x="1408069" y="203200"/>
              <a:ext cx="20454526" cy="1673225"/>
              <a:chOff x="0" y="0"/>
              <a:chExt cx="4040400" cy="330514"/>
            </a:xfrm>
          </p:grpSpPr>
          <p:sp>
            <p:nvSpPr>
              <p:cNvPr name="Freeform 4" id="4"/>
              <p:cNvSpPr/>
              <p:nvPr/>
            </p:nvSpPr>
            <p:spPr>
              <a:xfrm flipH="false" flipV="false" rot="0">
                <a:off x="0" y="0"/>
                <a:ext cx="4040400" cy="330514"/>
              </a:xfrm>
              <a:custGeom>
                <a:avLst/>
                <a:gdLst/>
                <a:ahLst/>
                <a:cxnLst/>
                <a:rect r="r" b="b" t="t" l="l"/>
                <a:pathLst>
                  <a:path h="330514" w="4040400">
                    <a:moveTo>
                      <a:pt x="24728" y="0"/>
                    </a:moveTo>
                    <a:lnTo>
                      <a:pt x="4015672" y="0"/>
                    </a:lnTo>
                    <a:cubicBezTo>
                      <a:pt x="4022230" y="0"/>
                      <a:pt x="4028520" y="2605"/>
                      <a:pt x="4033158" y="7243"/>
                    </a:cubicBezTo>
                    <a:cubicBezTo>
                      <a:pt x="4037795" y="11880"/>
                      <a:pt x="4040400" y="18170"/>
                      <a:pt x="4040400" y="24728"/>
                    </a:cubicBezTo>
                    <a:lnTo>
                      <a:pt x="4040400" y="305785"/>
                    </a:lnTo>
                    <a:cubicBezTo>
                      <a:pt x="4040400" y="312344"/>
                      <a:pt x="4037795" y="318633"/>
                      <a:pt x="4033158" y="323271"/>
                    </a:cubicBezTo>
                    <a:cubicBezTo>
                      <a:pt x="4028520" y="327908"/>
                      <a:pt x="4022230" y="330514"/>
                      <a:pt x="4015672" y="330514"/>
                    </a:cubicBezTo>
                    <a:lnTo>
                      <a:pt x="24728" y="330514"/>
                    </a:lnTo>
                    <a:cubicBezTo>
                      <a:pt x="18170" y="330514"/>
                      <a:pt x="11880" y="327908"/>
                      <a:pt x="7243" y="323271"/>
                    </a:cubicBezTo>
                    <a:cubicBezTo>
                      <a:pt x="2605" y="318633"/>
                      <a:pt x="0" y="312344"/>
                      <a:pt x="0" y="305785"/>
                    </a:cubicBezTo>
                    <a:lnTo>
                      <a:pt x="0" y="24728"/>
                    </a:lnTo>
                    <a:cubicBezTo>
                      <a:pt x="0" y="18170"/>
                      <a:pt x="2605" y="11880"/>
                      <a:pt x="7243" y="7243"/>
                    </a:cubicBezTo>
                    <a:cubicBezTo>
                      <a:pt x="11880" y="2605"/>
                      <a:pt x="18170" y="0"/>
                      <a:pt x="24728" y="0"/>
                    </a:cubicBezTo>
                    <a:close/>
                  </a:path>
                </a:pathLst>
              </a:custGeom>
              <a:solidFill>
                <a:srgbClr val="FAB574"/>
              </a:solidFill>
              <a:ln w="38100" cap="rnd">
                <a:solidFill>
                  <a:srgbClr val="2E2D2D"/>
                </a:solidFill>
                <a:prstDash val="solid"/>
                <a:round/>
              </a:ln>
            </p:spPr>
          </p:sp>
          <p:sp>
            <p:nvSpPr>
              <p:cNvPr name="TextBox 5" id="5"/>
              <p:cNvSpPr txBox="true"/>
              <p:nvPr/>
            </p:nvSpPr>
            <p:spPr>
              <a:xfrm>
                <a:off x="0" y="-38100"/>
                <a:ext cx="4040400" cy="36861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04869" y="0"/>
              <a:ext cx="20454526" cy="1673225"/>
              <a:chOff x="0" y="0"/>
              <a:chExt cx="4040400" cy="330514"/>
            </a:xfrm>
          </p:grpSpPr>
          <p:sp>
            <p:nvSpPr>
              <p:cNvPr name="Freeform 7" id="7"/>
              <p:cNvSpPr/>
              <p:nvPr/>
            </p:nvSpPr>
            <p:spPr>
              <a:xfrm flipH="false" flipV="false" rot="0">
                <a:off x="0" y="0"/>
                <a:ext cx="4040400" cy="330514"/>
              </a:xfrm>
              <a:custGeom>
                <a:avLst/>
                <a:gdLst/>
                <a:ahLst/>
                <a:cxnLst/>
                <a:rect r="r" b="b" t="t" l="l"/>
                <a:pathLst>
                  <a:path h="330514" w="4040400">
                    <a:moveTo>
                      <a:pt x="24728" y="0"/>
                    </a:moveTo>
                    <a:lnTo>
                      <a:pt x="4015672" y="0"/>
                    </a:lnTo>
                    <a:cubicBezTo>
                      <a:pt x="4022230" y="0"/>
                      <a:pt x="4028520" y="2605"/>
                      <a:pt x="4033158" y="7243"/>
                    </a:cubicBezTo>
                    <a:cubicBezTo>
                      <a:pt x="4037795" y="11880"/>
                      <a:pt x="4040400" y="18170"/>
                      <a:pt x="4040400" y="24728"/>
                    </a:cubicBezTo>
                    <a:lnTo>
                      <a:pt x="4040400" y="305785"/>
                    </a:lnTo>
                    <a:cubicBezTo>
                      <a:pt x="4040400" y="312344"/>
                      <a:pt x="4037795" y="318633"/>
                      <a:pt x="4033158" y="323271"/>
                    </a:cubicBezTo>
                    <a:cubicBezTo>
                      <a:pt x="4028520" y="327908"/>
                      <a:pt x="4022230" y="330514"/>
                      <a:pt x="4015672" y="330514"/>
                    </a:cubicBezTo>
                    <a:lnTo>
                      <a:pt x="24728" y="330514"/>
                    </a:lnTo>
                    <a:cubicBezTo>
                      <a:pt x="18170" y="330514"/>
                      <a:pt x="11880" y="327908"/>
                      <a:pt x="7243" y="323271"/>
                    </a:cubicBezTo>
                    <a:cubicBezTo>
                      <a:pt x="2605" y="318633"/>
                      <a:pt x="0" y="312344"/>
                      <a:pt x="0" y="305785"/>
                    </a:cubicBezTo>
                    <a:lnTo>
                      <a:pt x="0" y="24728"/>
                    </a:lnTo>
                    <a:cubicBezTo>
                      <a:pt x="0" y="18170"/>
                      <a:pt x="2605" y="11880"/>
                      <a:pt x="7243" y="7243"/>
                    </a:cubicBezTo>
                    <a:cubicBezTo>
                      <a:pt x="11880" y="2605"/>
                      <a:pt x="18170" y="0"/>
                      <a:pt x="24728" y="0"/>
                    </a:cubicBezTo>
                    <a:close/>
                  </a:path>
                </a:pathLst>
              </a:custGeom>
              <a:solidFill>
                <a:srgbClr val="F1F5F8"/>
              </a:solidFill>
              <a:ln w="38100" cap="rnd">
                <a:solidFill>
                  <a:srgbClr val="2E2D2D"/>
                </a:solidFill>
                <a:prstDash val="solid"/>
                <a:round/>
              </a:ln>
            </p:spPr>
          </p:sp>
          <p:sp>
            <p:nvSpPr>
              <p:cNvPr name="TextBox 8" id="8"/>
              <p:cNvSpPr txBox="true"/>
              <p:nvPr/>
            </p:nvSpPr>
            <p:spPr>
              <a:xfrm>
                <a:off x="0" y="-38100"/>
                <a:ext cx="4040400" cy="368614"/>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0">
              <a:off x="5148381" y="4732770"/>
              <a:ext cx="1964277" cy="1896420"/>
            </a:xfrm>
            <a:custGeom>
              <a:avLst/>
              <a:gdLst/>
              <a:ahLst/>
              <a:cxnLst/>
              <a:rect r="r" b="b" t="t" l="l"/>
              <a:pathLst>
                <a:path h="1896420" w="1964277">
                  <a:moveTo>
                    <a:pt x="1964277" y="0"/>
                  </a:moveTo>
                  <a:lnTo>
                    <a:pt x="0" y="0"/>
                  </a:lnTo>
                  <a:lnTo>
                    <a:pt x="0" y="1896420"/>
                  </a:lnTo>
                  <a:lnTo>
                    <a:pt x="1964277" y="1896420"/>
                  </a:lnTo>
                  <a:lnTo>
                    <a:pt x="19642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411947" y="66355"/>
              <a:ext cx="8243570" cy="1600840"/>
            </a:xfrm>
            <a:prstGeom prst="rect">
              <a:avLst/>
            </a:prstGeom>
          </p:spPr>
          <p:txBody>
            <a:bodyPr anchor="t" rtlCol="false" tIns="0" lIns="0" bIns="0" rIns="0">
              <a:spAutoFit/>
            </a:bodyPr>
            <a:lstStyle/>
            <a:p>
              <a:pPr algn="ctr">
                <a:lnSpc>
                  <a:spcPts val="10079"/>
                </a:lnSpc>
                <a:spcBef>
                  <a:spcPct val="0"/>
                </a:spcBef>
              </a:pPr>
              <a:r>
                <a:rPr lang="en-US" b="true" sz="7199">
                  <a:solidFill>
                    <a:srgbClr val="2E2D2D"/>
                  </a:solidFill>
                  <a:latin typeface="Glacial Indifference Bold"/>
                  <a:ea typeface="Glacial Indifference Bold"/>
                  <a:cs typeface="Glacial Indifference Bold"/>
                  <a:sym typeface="Glacial Indifference Bold"/>
                </a:rPr>
                <a:t>Code Modules</a:t>
              </a:r>
            </a:p>
          </p:txBody>
        </p:sp>
        <p:grpSp>
          <p:nvGrpSpPr>
            <p:cNvPr name="Group 11" id="11"/>
            <p:cNvGrpSpPr/>
            <p:nvPr/>
          </p:nvGrpSpPr>
          <p:grpSpPr>
            <a:xfrm rot="0">
              <a:off x="662595" y="3676402"/>
              <a:ext cx="10044687" cy="4177701"/>
              <a:chOff x="0" y="0"/>
              <a:chExt cx="2438792" cy="1014322"/>
            </a:xfrm>
          </p:grpSpPr>
          <p:sp>
            <p:nvSpPr>
              <p:cNvPr name="Freeform 12" id="12"/>
              <p:cNvSpPr/>
              <p:nvPr/>
            </p:nvSpPr>
            <p:spPr>
              <a:xfrm flipH="false" flipV="false" rot="0">
                <a:off x="0" y="0"/>
                <a:ext cx="2438792" cy="1014322"/>
              </a:xfrm>
              <a:custGeom>
                <a:avLst/>
                <a:gdLst/>
                <a:ahLst/>
                <a:cxnLst/>
                <a:rect r="r" b="b" t="t" l="l"/>
                <a:pathLst>
                  <a:path h="1014322" w="2438792">
                    <a:moveTo>
                      <a:pt x="51383" y="0"/>
                    </a:moveTo>
                    <a:lnTo>
                      <a:pt x="2387409" y="0"/>
                    </a:lnTo>
                    <a:cubicBezTo>
                      <a:pt x="2415787" y="0"/>
                      <a:pt x="2438792" y="23005"/>
                      <a:pt x="2438792" y="51383"/>
                    </a:cubicBezTo>
                    <a:lnTo>
                      <a:pt x="2438792" y="962939"/>
                    </a:lnTo>
                    <a:cubicBezTo>
                      <a:pt x="2438792" y="976566"/>
                      <a:pt x="2433378" y="989636"/>
                      <a:pt x="2423742" y="999272"/>
                    </a:cubicBezTo>
                    <a:cubicBezTo>
                      <a:pt x="2414106" y="1008908"/>
                      <a:pt x="2401037" y="1014322"/>
                      <a:pt x="2387409" y="1014322"/>
                    </a:cubicBezTo>
                    <a:lnTo>
                      <a:pt x="51383" y="1014322"/>
                    </a:lnTo>
                    <a:cubicBezTo>
                      <a:pt x="23005" y="1014322"/>
                      <a:pt x="0" y="991317"/>
                      <a:pt x="0" y="962939"/>
                    </a:cubicBezTo>
                    <a:lnTo>
                      <a:pt x="0" y="51383"/>
                    </a:lnTo>
                    <a:cubicBezTo>
                      <a:pt x="0" y="37756"/>
                      <a:pt x="5414" y="24686"/>
                      <a:pt x="15050" y="15050"/>
                    </a:cubicBezTo>
                    <a:cubicBezTo>
                      <a:pt x="24686" y="5414"/>
                      <a:pt x="37756" y="0"/>
                      <a:pt x="51383" y="0"/>
                    </a:cubicBezTo>
                    <a:close/>
                  </a:path>
                </a:pathLst>
              </a:custGeom>
              <a:solidFill>
                <a:srgbClr val="FAB574"/>
              </a:solidFill>
            </p:spPr>
          </p:sp>
          <p:sp>
            <p:nvSpPr>
              <p:cNvPr name="TextBox 13" id="13"/>
              <p:cNvSpPr txBox="true"/>
              <p:nvPr/>
            </p:nvSpPr>
            <p:spPr>
              <a:xfrm>
                <a:off x="0" y="85725"/>
                <a:ext cx="2438792" cy="928597"/>
              </a:xfrm>
              <a:prstGeom prst="rect">
                <a:avLst/>
              </a:prstGeom>
            </p:spPr>
            <p:txBody>
              <a:bodyPr anchor="ctr" rtlCol="false" tIns="52531" lIns="52531" bIns="52531" rIns="52531"/>
              <a:lstStyle/>
              <a:p>
                <a:pPr algn="ctr">
                  <a:lnSpc>
                    <a:spcPts val="1925"/>
                  </a:lnSpc>
                </a:pPr>
              </a:p>
            </p:txBody>
          </p:sp>
        </p:grpSp>
        <p:sp>
          <p:nvSpPr>
            <p:cNvPr name="TextBox 14" id="14"/>
            <p:cNvSpPr txBox="true"/>
            <p:nvPr/>
          </p:nvSpPr>
          <p:spPr>
            <a:xfrm rot="0">
              <a:off x="915637" y="2699351"/>
              <a:ext cx="7191720" cy="697048"/>
            </a:xfrm>
            <a:prstGeom prst="rect">
              <a:avLst/>
            </a:prstGeom>
          </p:spPr>
          <p:txBody>
            <a:bodyPr anchor="t" rtlCol="false" tIns="0" lIns="0" bIns="0" rIns="0">
              <a:spAutoFit/>
            </a:bodyPr>
            <a:lstStyle/>
            <a:p>
              <a:pPr algn="ctr">
                <a:lnSpc>
                  <a:spcPts val="4343"/>
                </a:lnSpc>
              </a:pPr>
              <a:r>
                <a:rPr lang="en-US" sz="3102" b="true">
                  <a:solidFill>
                    <a:srgbClr val="F1F5F8"/>
                  </a:solidFill>
                  <a:latin typeface="Neue Machina Ultra-Bold"/>
                  <a:ea typeface="Neue Machina Ultra-Bold"/>
                  <a:cs typeface="Neue Machina Ultra-Bold"/>
                  <a:sym typeface="Neue Machina Ultra-Bold"/>
                </a:rPr>
                <a:t>Network Architectures</a:t>
              </a:r>
            </a:p>
          </p:txBody>
        </p:sp>
        <p:sp>
          <p:nvSpPr>
            <p:cNvPr name="TextBox 15" id="15"/>
            <p:cNvSpPr txBox="true"/>
            <p:nvPr/>
          </p:nvSpPr>
          <p:spPr>
            <a:xfrm rot="0">
              <a:off x="915637" y="3864566"/>
              <a:ext cx="8120839" cy="3585202"/>
            </a:xfrm>
            <a:prstGeom prst="rect">
              <a:avLst/>
            </a:prstGeom>
          </p:spPr>
          <p:txBody>
            <a:bodyPr anchor="t" rtlCol="false" tIns="0" lIns="0" bIns="0" rIns="0">
              <a:spAutoFit/>
            </a:bodyPr>
            <a:lstStyle/>
            <a:p>
              <a:pPr algn="l" marL="555135" indent="-277568" lvl="1">
                <a:lnSpc>
                  <a:spcPts val="3599"/>
                </a:lnSpc>
                <a:buFont typeface="Arial"/>
                <a:buChar char="•"/>
              </a:pPr>
              <a:r>
                <a:rPr lang="en-US" b="true" sz="2571">
                  <a:solidFill>
                    <a:srgbClr val="1C2120"/>
                  </a:solidFill>
                  <a:latin typeface="Canva Sans Bold"/>
                  <a:ea typeface="Canva Sans Bold"/>
                  <a:cs typeface="Canva Sans Bold"/>
                  <a:sym typeface="Canva Sans Bold"/>
                </a:rPr>
                <a:t>Enco</a:t>
              </a:r>
              <a:r>
                <a:rPr lang="en-US" b="true" sz="2571">
                  <a:solidFill>
                    <a:srgbClr val="1C2120"/>
                  </a:solidFill>
                  <a:latin typeface="Canva Sans Bold"/>
                  <a:ea typeface="Canva Sans Bold"/>
                  <a:cs typeface="Canva Sans Bold"/>
                  <a:sym typeface="Canva Sans Bold"/>
                </a:rPr>
                <a:t>ders</a:t>
              </a:r>
              <a:r>
                <a:rPr lang="en-US" sz="2571">
                  <a:solidFill>
                    <a:srgbClr val="1C2120"/>
                  </a:solidFill>
                  <a:latin typeface="Canva Sans"/>
                  <a:ea typeface="Canva Sans"/>
                  <a:cs typeface="Canva Sans"/>
                  <a:sym typeface="Canva Sans"/>
                </a:rPr>
                <a:t>: ResNet-18</a:t>
              </a:r>
            </a:p>
            <a:p>
              <a:pPr algn="l" marL="555135" indent="-277568" lvl="1">
                <a:lnSpc>
                  <a:spcPts val="3599"/>
                </a:lnSpc>
                <a:buFont typeface="Arial"/>
                <a:buChar char="•"/>
              </a:pPr>
              <a:r>
                <a:rPr lang="en-US" b="true" sz="2571">
                  <a:solidFill>
                    <a:srgbClr val="1C2120"/>
                  </a:solidFill>
                  <a:latin typeface="Canva Sans Bold"/>
                  <a:ea typeface="Canva Sans Bold"/>
                  <a:cs typeface="Canva Sans Bold"/>
                  <a:sym typeface="Canva Sans Bold"/>
                </a:rPr>
                <a:t>Statistics Networks</a:t>
              </a:r>
              <a:r>
                <a:rPr lang="en-US" sz="2571">
                  <a:solidFill>
                    <a:srgbClr val="1C2120"/>
                  </a:solidFill>
                  <a:latin typeface="Canva Sans"/>
                  <a:ea typeface="Canva Sans"/>
                  <a:cs typeface="Canva Sans"/>
                  <a:sym typeface="Canva Sans"/>
                </a:rPr>
                <a:t>: 2-layer FC networks.</a:t>
              </a:r>
            </a:p>
            <a:p>
              <a:pPr algn="l" marL="555135" indent="-277568" lvl="1">
                <a:lnSpc>
                  <a:spcPts val="3599"/>
                </a:lnSpc>
                <a:buFont typeface="Arial"/>
                <a:buChar char="•"/>
              </a:pPr>
              <a:r>
                <a:rPr lang="en-US" b="true" sz="2571">
                  <a:solidFill>
                    <a:srgbClr val="1C2120"/>
                  </a:solidFill>
                  <a:latin typeface="Canva Sans Bold"/>
                  <a:ea typeface="Canva Sans Bold"/>
                  <a:cs typeface="Canva Sans Bold"/>
                  <a:sym typeface="Canva Sans Bold"/>
                </a:rPr>
                <a:t>Discriminator</a:t>
              </a:r>
              <a:r>
                <a:rPr lang="en-US" sz="2571">
                  <a:solidFill>
                    <a:srgbClr val="1C2120"/>
                  </a:solidFill>
                  <a:latin typeface="Canva Sans"/>
                  <a:ea typeface="Canva Sans"/>
                  <a:cs typeface="Canva Sans"/>
                  <a:sym typeface="Canva Sans"/>
                </a:rPr>
                <a:t>: 3-layer FC network.</a:t>
              </a:r>
            </a:p>
            <a:p>
              <a:pPr algn="l" marL="555135" indent="-277568" lvl="1">
                <a:lnSpc>
                  <a:spcPts val="3599"/>
                </a:lnSpc>
                <a:buFont typeface="Arial"/>
                <a:buChar char="•"/>
              </a:pPr>
              <a:r>
                <a:rPr lang="en-US" b="true" sz="2571">
                  <a:solidFill>
                    <a:srgbClr val="1C2120"/>
                  </a:solidFill>
                  <a:latin typeface="Canva Sans Bold"/>
                  <a:ea typeface="Canva Sans Bold"/>
                  <a:cs typeface="Canva Sans Bold"/>
                  <a:sym typeface="Canva Sans Bold"/>
                </a:rPr>
                <a:t>Classifier</a:t>
              </a:r>
              <a:r>
                <a:rPr lang="en-US" sz="2571">
                  <a:solidFill>
                    <a:srgbClr val="1C2120"/>
                  </a:solidFill>
                  <a:latin typeface="Canva Sans"/>
                  <a:ea typeface="Canva Sans"/>
                  <a:cs typeface="Canva Sans"/>
                  <a:sym typeface="Canva Sans"/>
                </a:rPr>
                <a:t>: FC layers trained on disentangled expression vectors.</a:t>
              </a:r>
            </a:p>
          </p:txBody>
        </p:sp>
        <p:grpSp>
          <p:nvGrpSpPr>
            <p:cNvPr name="Group 16" id="16"/>
            <p:cNvGrpSpPr/>
            <p:nvPr/>
          </p:nvGrpSpPr>
          <p:grpSpPr>
            <a:xfrm rot="0">
              <a:off x="10990676" y="3702457"/>
              <a:ext cx="10130644" cy="4177701"/>
              <a:chOff x="0" y="0"/>
              <a:chExt cx="2543532" cy="1048966"/>
            </a:xfrm>
          </p:grpSpPr>
          <p:sp>
            <p:nvSpPr>
              <p:cNvPr name="Freeform 17" id="17"/>
              <p:cNvSpPr/>
              <p:nvPr/>
            </p:nvSpPr>
            <p:spPr>
              <a:xfrm flipH="false" flipV="false" rot="0">
                <a:off x="0" y="0"/>
                <a:ext cx="2543532" cy="1048966"/>
              </a:xfrm>
              <a:custGeom>
                <a:avLst/>
                <a:gdLst/>
                <a:ahLst/>
                <a:cxnLst/>
                <a:rect r="r" b="b" t="t" l="l"/>
                <a:pathLst>
                  <a:path h="1048966" w="2543532">
                    <a:moveTo>
                      <a:pt x="2543532" y="50947"/>
                    </a:moveTo>
                    <a:lnTo>
                      <a:pt x="2543532" y="998019"/>
                    </a:lnTo>
                    <a:cubicBezTo>
                      <a:pt x="2543532" y="1026156"/>
                      <a:pt x="2520722" y="1048966"/>
                      <a:pt x="2492585" y="1048966"/>
                    </a:cubicBezTo>
                    <a:lnTo>
                      <a:pt x="50947" y="1048966"/>
                    </a:lnTo>
                    <a:cubicBezTo>
                      <a:pt x="37435" y="1048966"/>
                      <a:pt x="24477" y="1043598"/>
                      <a:pt x="14922" y="1034044"/>
                    </a:cubicBezTo>
                    <a:cubicBezTo>
                      <a:pt x="5368" y="1024489"/>
                      <a:pt x="0" y="1011531"/>
                      <a:pt x="0" y="998019"/>
                    </a:cubicBezTo>
                    <a:lnTo>
                      <a:pt x="0" y="50947"/>
                    </a:lnTo>
                    <a:cubicBezTo>
                      <a:pt x="0" y="37435"/>
                      <a:pt x="5368" y="24477"/>
                      <a:pt x="14922" y="14922"/>
                    </a:cubicBezTo>
                    <a:cubicBezTo>
                      <a:pt x="24477" y="5368"/>
                      <a:pt x="37435" y="0"/>
                      <a:pt x="50947" y="0"/>
                    </a:cubicBezTo>
                    <a:lnTo>
                      <a:pt x="2492585" y="0"/>
                    </a:lnTo>
                    <a:cubicBezTo>
                      <a:pt x="2506097" y="0"/>
                      <a:pt x="2519056" y="5368"/>
                      <a:pt x="2528610" y="14922"/>
                    </a:cubicBezTo>
                    <a:cubicBezTo>
                      <a:pt x="2538164" y="24477"/>
                      <a:pt x="2543532" y="37435"/>
                      <a:pt x="2543532" y="50947"/>
                    </a:cubicBezTo>
                    <a:close/>
                  </a:path>
                </a:pathLst>
              </a:custGeom>
              <a:solidFill>
                <a:srgbClr val="FAB574"/>
              </a:solidFill>
            </p:spPr>
          </p:sp>
          <p:sp>
            <p:nvSpPr>
              <p:cNvPr name="TextBox 18" id="18"/>
              <p:cNvSpPr txBox="true"/>
              <p:nvPr/>
            </p:nvSpPr>
            <p:spPr>
              <a:xfrm>
                <a:off x="0" y="85725"/>
                <a:ext cx="2543532" cy="963241"/>
              </a:xfrm>
              <a:prstGeom prst="rect">
                <a:avLst/>
              </a:prstGeom>
            </p:spPr>
            <p:txBody>
              <a:bodyPr anchor="ctr" rtlCol="false" tIns="50800" lIns="50800" bIns="50800" rIns="50800"/>
              <a:lstStyle/>
              <a:p>
                <a:pPr algn="ctr">
                  <a:lnSpc>
                    <a:spcPts val="1925"/>
                  </a:lnSpc>
                </a:pPr>
              </a:p>
            </p:txBody>
          </p:sp>
        </p:grpSp>
        <p:sp>
          <p:nvSpPr>
            <p:cNvPr name="TextBox 19" id="19"/>
            <p:cNvSpPr txBox="true"/>
            <p:nvPr/>
          </p:nvSpPr>
          <p:spPr>
            <a:xfrm rot="0">
              <a:off x="11182217" y="3984606"/>
              <a:ext cx="9377766" cy="3543331"/>
            </a:xfrm>
            <a:prstGeom prst="rect">
              <a:avLst/>
            </a:prstGeom>
          </p:spPr>
          <p:txBody>
            <a:bodyPr anchor="t" rtlCol="false" tIns="0" lIns="0" bIns="0" rIns="0">
              <a:spAutoFit/>
            </a:bodyPr>
            <a:lstStyle/>
            <a:p>
              <a:pPr algn="l" marL="546299" indent="-273150" lvl="1">
                <a:lnSpc>
                  <a:spcPts val="3542"/>
                </a:lnSpc>
                <a:buFont typeface="Arial"/>
                <a:buChar char="•"/>
              </a:pPr>
              <a:r>
                <a:rPr lang="en-US" sz="2530">
                  <a:solidFill>
                    <a:srgbClr val="1C2120"/>
                  </a:solidFill>
                  <a:latin typeface="Canva Sans"/>
                  <a:ea typeface="Canva Sans"/>
                  <a:cs typeface="Canva Sans"/>
                  <a:sym typeface="Canva Sans"/>
                </a:rPr>
                <a:t> </a:t>
              </a:r>
              <a:r>
                <a:rPr lang="en-US" sz="2530">
                  <a:solidFill>
                    <a:srgbClr val="1C2120"/>
                  </a:solidFill>
                  <a:latin typeface="Canva Sans"/>
                  <a:ea typeface="Canva Sans"/>
                  <a:cs typeface="Canva Sans"/>
                  <a:sym typeface="Canva Sans"/>
                </a:rPr>
                <a:t>We made our own dataset by clicking pictures of various people, gathering 1800+ photos in the dataset.</a:t>
              </a:r>
            </a:p>
            <a:p>
              <a:pPr algn="l" marL="546299" indent="-273150" lvl="1">
                <a:lnSpc>
                  <a:spcPts val="3542"/>
                </a:lnSpc>
                <a:buFont typeface="Arial"/>
                <a:buChar char="•"/>
              </a:pPr>
              <a:r>
                <a:rPr lang="en-US" b="true" sz="2530">
                  <a:solidFill>
                    <a:srgbClr val="1C2120"/>
                  </a:solidFill>
                  <a:latin typeface="Canva Sans Bold"/>
                  <a:ea typeface="Canva Sans Bold"/>
                  <a:cs typeface="Canva Sans Bold"/>
                  <a:sym typeface="Canva Sans Bold"/>
                </a:rPr>
                <a:t>Preprocessing</a:t>
              </a:r>
              <a:r>
                <a:rPr lang="en-US" sz="2530">
                  <a:solidFill>
                    <a:srgbClr val="1C2120"/>
                  </a:solidFill>
                  <a:latin typeface="Canva Sans"/>
                  <a:ea typeface="Canva Sans"/>
                  <a:cs typeface="Canva Sans"/>
                  <a:sym typeface="Canva Sans"/>
                </a:rPr>
                <a:t>: Face alignment using MTCNN, gray-scaled and resized to 112×112.</a:t>
              </a:r>
            </a:p>
          </p:txBody>
        </p:sp>
        <p:sp>
          <p:nvSpPr>
            <p:cNvPr name="TextBox 20" id="20"/>
            <p:cNvSpPr txBox="true"/>
            <p:nvPr/>
          </p:nvSpPr>
          <p:spPr>
            <a:xfrm rot="0">
              <a:off x="10707282" y="2720126"/>
              <a:ext cx="8765655" cy="676273"/>
            </a:xfrm>
            <a:prstGeom prst="rect">
              <a:avLst/>
            </a:prstGeom>
          </p:spPr>
          <p:txBody>
            <a:bodyPr anchor="t" rtlCol="false" tIns="0" lIns="0" bIns="0" rIns="0">
              <a:spAutoFit/>
            </a:bodyPr>
            <a:lstStyle/>
            <a:p>
              <a:pPr algn="ctr">
                <a:lnSpc>
                  <a:spcPts val="4200"/>
                </a:lnSpc>
              </a:pPr>
              <a:r>
                <a:rPr lang="en-US" sz="3000" b="true">
                  <a:solidFill>
                    <a:srgbClr val="F1F5F8"/>
                  </a:solidFill>
                  <a:latin typeface="Neue Machina Ultra-Bold"/>
                  <a:ea typeface="Neue Machina Ultra-Bold"/>
                  <a:cs typeface="Neue Machina Ultra-Bold"/>
                  <a:sym typeface="Neue Machina Ultra-Bold"/>
                </a:rPr>
                <a:t>Dataset and Preprocessing</a:t>
              </a:r>
            </a:p>
          </p:txBody>
        </p:sp>
        <p:grpSp>
          <p:nvGrpSpPr>
            <p:cNvPr name="Group 21" id="21"/>
            <p:cNvGrpSpPr/>
            <p:nvPr/>
          </p:nvGrpSpPr>
          <p:grpSpPr>
            <a:xfrm rot="0">
              <a:off x="0" y="10532789"/>
              <a:ext cx="22673119" cy="2376572"/>
              <a:chOff x="0" y="0"/>
              <a:chExt cx="5692510" cy="596683"/>
            </a:xfrm>
          </p:grpSpPr>
          <p:sp>
            <p:nvSpPr>
              <p:cNvPr name="Freeform 22" id="22"/>
              <p:cNvSpPr/>
              <p:nvPr/>
            </p:nvSpPr>
            <p:spPr>
              <a:xfrm flipH="false" flipV="false" rot="0">
                <a:off x="0" y="0"/>
                <a:ext cx="5692510" cy="596683"/>
              </a:xfrm>
              <a:custGeom>
                <a:avLst/>
                <a:gdLst/>
                <a:ahLst/>
                <a:cxnLst/>
                <a:rect r="r" b="b" t="t" l="l"/>
                <a:pathLst>
                  <a:path h="596683" w="5692510">
                    <a:moveTo>
                      <a:pt x="22764" y="0"/>
                    </a:moveTo>
                    <a:lnTo>
                      <a:pt x="5669746" y="0"/>
                    </a:lnTo>
                    <a:cubicBezTo>
                      <a:pt x="5682318" y="0"/>
                      <a:pt x="5692510" y="10192"/>
                      <a:pt x="5692510" y="22764"/>
                    </a:cubicBezTo>
                    <a:lnTo>
                      <a:pt x="5692510" y="573919"/>
                    </a:lnTo>
                    <a:cubicBezTo>
                      <a:pt x="5692510" y="586491"/>
                      <a:pt x="5682318" y="596683"/>
                      <a:pt x="5669746" y="596683"/>
                    </a:cubicBezTo>
                    <a:lnTo>
                      <a:pt x="22764" y="596683"/>
                    </a:lnTo>
                    <a:cubicBezTo>
                      <a:pt x="10192" y="596683"/>
                      <a:pt x="0" y="586491"/>
                      <a:pt x="0" y="573919"/>
                    </a:cubicBezTo>
                    <a:lnTo>
                      <a:pt x="0" y="22764"/>
                    </a:lnTo>
                    <a:cubicBezTo>
                      <a:pt x="0" y="10192"/>
                      <a:pt x="10192" y="0"/>
                      <a:pt x="22764" y="0"/>
                    </a:cubicBezTo>
                    <a:close/>
                  </a:path>
                </a:pathLst>
              </a:custGeom>
              <a:solidFill>
                <a:srgbClr val="FAB574"/>
              </a:solidFill>
            </p:spPr>
          </p:sp>
          <p:sp>
            <p:nvSpPr>
              <p:cNvPr name="TextBox 23" id="23"/>
              <p:cNvSpPr txBox="true"/>
              <p:nvPr/>
            </p:nvSpPr>
            <p:spPr>
              <a:xfrm>
                <a:off x="0" y="85725"/>
                <a:ext cx="5692510" cy="510958"/>
              </a:xfrm>
              <a:prstGeom prst="rect">
                <a:avLst/>
              </a:prstGeom>
            </p:spPr>
            <p:txBody>
              <a:bodyPr anchor="ctr" rtlCol="false" tIns="50800" lIns="50800" bIns="50800" rIns="50800"/>
              <a:lstStyle/>
              <a:p>
                <a:pPr algn="ctr">
                  <a:lnSpc>
                    <a:spcPts val="1925"/>
                  </a:lnSpc>
                </a:pPr>
              </a:p>
            </p:txBody>
          </p:sp>
        </p:grpSp>
        <p:sp>
          <p:nvSpPr>
            <p:cNvPr name="TextBox 24" id="24"/>
            <p:cNvSpPr txBox="true"/>
            <p:nvPr/>
          </p:nvSpPr>
          <p:spPr>
            <a:xfrm rot="0">
              <a:off x="4012191" y="9574011"/>
              <a:ext cx="12137982" cy="676273"/>
            </a:xfrm>
            <a:prstGeom prst="rect">
              <a:avLst/>
            </a:prstGeom>
          </p:spPr>
          <p:txBody>
            <a:bodyPr anchor="t" rtlCol="false" tIns="0" lIns="0" bIns="0" rIns="0">
              <a:spAutoFit/>
            </a:bodyPr>
            <a:lstStyle/>
            <a:p>
              <a:pPr algn="ctr">
                <a:lnSpc>
                  <a:spcPts val="4200"/>
                </a:lnSpc>
              </a:pPr>
              <a:r>
                <a:rPr lang="en-US" sz="3000" b="true">
                  <a:solidFill>
                    <a:srgbClr val="F1F5F8"/>
                  </a:solidFill>
                  <a:latin typeface="Neue Machina Ultra-Bold"/>
                  <a:ea typeface="Neue Machina Ultra-Bold"/>
                  <a:cs typeface="Neue Machina Ultra-Bold"/>
                  <a:sym typeface="Neue Machina Ultra-Bold"/>
                </a:rPr>
                <a:t>Training Pipeline </a:t>
              </a:r>
            </a:p>
          </p:txBody>
        </p:sp>
        <p:sp>
          <p:nvSpPr>
            <p:cNvPr name="TextBox 25" id="25"/>
            <p:cNvSpPr txBox="true"/>
            <p:nvPr/>
          </p:nvSpPr>
          <p:spPr>
            <a:xfrm rot="0">
              <a:off x="776064" y="10930311"/>
              <a:ext cx="21120990" cy="1607446"/>
            </a:xfrm>
            <a:prstGeom prst="rect">
              <a:avLst/>
            </a:prstGeom>
          </p:spPr>
          <p:txBody>
            <a:bodyPr anchor="t" rtlCol="false" tIns="0" lIns="0" bIns="0" rIns="0">
              <a:spAutoFit/>
            </a:bodyPr>
            <a:lstStyle/>
            <a:p>
              <a:pPr algn="l" marL="500303" indent="-250151" lvl="1">
                <a:lnSpc>
                  <a:spcPts val="3244"/>
                </a:lnSpc>
                <a:buFont typeface="Arial"/>
                <a:buChar char="•"/>
              </a:pPr>
              <a:r>
                <a:rPr lang="en-US" b="true" sz="2317">
                  <a:solidFill>
                    <a:srgbClr val="1C2120"/>
                  </a:solidFill>
                  <a:latin typeface="Canva Sans Bold"/>
                  <a:ea typeface="Canva Sans Bold"/>
                  <a:cs typeface="Canva Sans Bold"/>
                  <a:sym typeface="Canva Sans Bold"/>
                </a:rPr>
                <a:t>Stage 1</a:t>
              </a:r>
              <a:r>
                <a:rPr lang="en-US" sz="2317">
                  <a:solidFill>
                    <a:srgbClr val="1C2120"/>
                  </a:solidFill>
                  <a:latin typeface="Canva Sans"/>
                  <a:ea typeface="Canva Sans"/>
                  <a:cs typeface="Canva Sans"/>
                  <a:sym typeface="Canva Sans"/>
                </a:rPr>
                <a:t>:</a:t>
              </a:r>
              <a:r>
                <a:rPr lang="en-US" sz="2317">
                  <a:solidFill>
                    <a:srgbClr val="1C2120"/>
                  </a:solidFill>
                  <a:latin typeface="Canva Sans"/>
                  <a:ea typeface="Canva Sans"/>
                  <a:cs typeface="Canva Sans"/>
                  <a:sym typeface="Canva Sans"/>
                </a:rPr>
                <a:t> Train E_exp, U, using MI maximization and L1 loss.</a:t>
              </a:r>
            </a:p>
            <a:p>
              <a:pPr algn="l" marL="500303" indent="-250151" lvl="1">
                <a:lnSpc>
                  <a:spcPts val="3244"/>
                </a:lnSpc>
                <a:buFont typeface="Arial"/>
                <a:buChar char="•"/>
              </a:pPr>
              <a:r>
                <a:rPr lang="en-US" b="true" sz="2317">
                  <a:solidFill>
                    <a:srgbClr val="1C2120"/>
                  </a:solidFill>
                  <a:latin typeface="Canva Sans Bold"/>
                  <a:ea typeface="Canva Sans Bold"/>
                  <a:cs typeface="Canva Sans Bold"/>
                  <a:sym typeface="Canva Sans Bold"/>
                </a:rPr>
                <a:t>Stage 2</a:t>
              </a:r>
              <a:r>
                <a:rPr lang="en-US" sz="2317">
                  <a:solidFill>
                    <a:srgbClr val="1C2120"/>
                  </a:solidFill>
                  <a:latin typeface="Canva Sans"/>
                  <a:ea typeface="Canva Sans"/>
                  <a:cs typeface="Canva Sans"/>
                  <a:sym typeface="Canva Sans"/>
                </a:rPr>
                <a:t>: Fix E_exp, train E_id, U, D to maximize image-feature MI and minimize expression-identity MI.</a:t>
              </a:r>
            </a:p>
            <a:p>
              <a:pPr algn="l" marL="500303" indent="-250151" lvl="1">
                <a:lnSpc>
                  <a:spcPts val="3244"/>
                </a:lnSpc>
                <a:buFont typeface="Arial"/>
                <a:buChar char="•"/>
              </a:pPr>
              <a:r>
                <a:rPr lang="en-US" sz="2317">
                  <a:solidFill>
                    <a:srgbClr val="1C2120"/>
                  </a:solidFill>
                  <a:latin typeface="Canva Sans"/>
                  <a:ea typeface="Canva Sans"/>
                  <a:cs typeface="Canva Sans"/>
                  <a:sym typeface="Canva Sans"/>
                </a:rPr>
                <a:t>Train classifier on expression features.</a:t>
              </a:r>
            </a:p>
          </p:txBody>
        </p:sp>
        <p:grpSp>
          <p:nvGrpSpPr>
            <p:cNvPr name="Group 26" id="26"/>
            <p:cNvGrpSpPr/>
            <p:nvPr/>
          </p:nvGrpSpPr>
          <p:grpSpPr>
            <a:xfrm rot="0">
              <a:off x="12660874" y="9000942"/>
              <a:ext cx="1889085" cy="188908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B574"/>
              </a:solidFill>
            </p:spPr>
          </p:sp>
          <p:sp>
            <p:nvSpPr>
              <p:cNvPr name="TextBox 28" id="28"/>
              <p:cNvSpPr txBox="true"/>
              <p:nvPr/>
            </p:nvSpPr>
            <p:spPr>
              <a:xfrm>
                <a:off x="76200" y="38100"/>
                <a:ext cx="660400" cy="698500"/>
              </a:xfrm>
              <a:prstGeom prst="rect">
                <a:avLst/>
              </a:prstGeom>
            </p:spPr>
            <p:txBody>
              <a:bodyPr anchor="ctr" rtlCol="false" tIns="29674" lIns="29674" bIns="29674" rIns="29674"/>
              <a:lstStyle/>
              <a:p>
                <a:pPr algn="ctr">
                  <a:lnSpc>
                    <a:spcPts val="2660"/>
                  </a:lnSpc>
                </a:pPr>
              </a:p>
            </p:txBody>
          </p:sp>
        </p:grpSp>
        <p:sp>
          <p:nvSpPr>
            <p:cNvPr name="Freeform 29" id="29"/>
            <p:cNvSpPr/>
            <p:nvPr/>
          </p:nvSpPr>
          <p:spPr>
            <a:xfrm flipH="false" flipV="false" rot="0">
              <a:off x="13012320" y="9379822"/>
              <a:ext cx="1186192" cy="1186192"/>
            </a:xfrm>
            <a:custGeom>
              <a:avLst/>
              <a:gdLst/>
              <a:ahLst/>
              <a:cxnLst/>
              <a:rect r="r" b="b" t="t" l="l"/>
              <a:pathLst>
                <a:path h="1186192" w="1186192">
                  <a:moveTo>
                    <a:pt x="0" y="0"/>
                  </a:moveTo>
                  <a:lnTo>
                    <a:pt x="1186192" y="0"/>
                  </a:lnTo>
                  <a:lnTo>
                    <a:pt x="1186192" y="1186192"/>
                  </a:lnTo>
                  <a:lnTo>
                    <a:pt x="0" y="11861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0" id="30"/>
            <p:cNvGrpSpPr/>
            <p:nvPr/>
          </p:nvGrpSpPr>
          <p:grpSpPr>
            <a:xfrm rot="0">
              <a:off x="8126982" y="2157445"/>
              <a:ext cx="1954200" cy="1954200"/>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B574"/>
              </a:solidFill>
            </p:spPr>
          </p:sp>
          <p:sp>
            <p:nvSpPr>
              <p:cNvPr name="TextBox 32" id="32"/>
              <p:cNvSpPr txBox="true"/>
              <p:nvPr/>
            </p:nvSpPr>
            <p:spPr>
              <a:xfrm>
                <a:off x="76200" y="38100"/>
                <a:ext cx="660400" cy="698500"/>
              </a:xfrm>
              <a:prstGeom prst="rect">
                <a:avLst/>
              </a:prstGeom>
            </p:spPr>
            <p:txBody>
              <a:bodyPr anchor="ctr" rtlCol="false" tIns="40825" lIns="40825" bIns="40825" rIns="40825"/>
              <a:lstStyle/>
              <a:p>
                <a:pPr algn="ctr">
                  <a:lnSpc>
                    <a:spcPts val="2660"/>
                  </a:lnSpc>
                </a:pPr>
              </a:p>
            </p:txBody>
          </p:sp>
        </p:grpSp>
        <p:sp>
          <p:nvSpPr>
            <p:cNvPr name="Freeform 33" id="33"/>
            <p:cNvSpPr/>
            <p:nvPr/>
          </p:nvSpPr>
          <p:spPr>
            <a:xfrm flipH="false" flipV="false" rot="0">
              <a:off x="8391126" y="2475490"/>
              <a:ext cx="1199976" cy="1199976"/>
            </a:xfrm>
            <a:custGeom>
              <a:avLst/>
              <a:gdLst/>
              <a:ahLst/>
              <a:cxnLst/>
              <a:rect r="r" b="b" t="t" l="l"/>
              <a:pathLst>
                <a:path h="1199976" w="1199976">
                  <a:moveTo>
                    <a:pt x="0" y="0"/>
                  </a:moveTo>
                  <a:lnTo>
                    <a:pt x="1199976" y="0"/>
                  </a:lnTo>
                  <a:lnTo>
                    <a:pt x="1199976" y="1199976"/>
                  </a:lnTo>
                  <a:lnTo>
                    <a:pt x="0" y="11999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4778753" y="1943125"/>
            <a:ext cx="1416814" cy="1416814"/>
            <a:chOff x="0" y="0"/>
            <a:chExt cx="1889085" cy="1889085"/>
          </a:xfrm>
        </p:grpSpPr>
        <p:grpSp>
          <p:nvGrpSpPr>
            <p:cNvPr name="Group 35" id="35"/>
            <p:cNvGrpSpPr/>
            <p:nvPr/>
          </p:nvGrpSpPr>
          <p:grpSpPr>
            <a:xfrm rot="0">
              <a:off x="0" y="0"/>
              <a:ext cx="1889085" cy="1889085"/>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B574"/>
              </a:solidFill>
            </p:spPr>
          </p:sp>
          <p:sp>
            <p:nvSpPr>
              <p:cNvPr name="TextBox 37" id="37"/>
              <p:cNvSpPr txBox="true"/>
              <p:nvPr/>
            </p:nvSpPr>
            <p:spPr>
              <a:xfrm>
                <a:off x="76200" y="38100"/>
                <a:ext cx="660400" cy="698500"/>
              </a:xfrm>
              <a:prstGeom prst="rect">
                <a:avLst/>
              </a:prstGeom>
            </p:spPr>
            <p:txBody>
              <a:bodyPr anchor="ctr" rtlCol="false" tIns="29674" lIns="29674" bIns="29674" rIns="29674"/>
              <a:lstStyle/>
              <a:p>
                <a:pPr algn="ctr">
                  <a:lnSpc>
                    <a:spcPts val="2660"/>
                  </a:lnSpc>
                </a:pPr>
              </a:p>
            </p:txBody>
          </p:sp>
        </p:grpSp>
        <p:sp>
          <p:nvSpPr>
            <p:cNvPr name="Freeform 38" id="38"/>
            <p:cNvSpPr/>
            <p:nvPr/>
          </p:nvSpPr>
          <p:spPr>
            <a:xfrm flipH="false" flipV="false" rot="0">
              <a:off x="320002" y="324686"/>
              <a:ext cx="1249081" cy="1239713"/>
            </a:xfrm>
            <a:custGeom>
              <a:avLst/>
              <a:gdLst/>
              <a:ahLst/>
              <a:cxnLst/>
              <a:rect r="r" b="b" t="t" l="l"/>
              <a:pathLst>
                <a:path h="1239713" w="1249081">
                  <a:moveTo>
                    <a:pt x="0" y="0"/>
                  </a:moveTo>
                  <a:lnTo>
                    <a:pt x="1249081" y="0"/>
                  </a:lnTo>
                  <a:lnTo>
                    <a:pt x="1249081" y="1239713"/>
                  </a:lnTo>
                  <a:lnTo>
                    <a:pt x="0" y="12397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grpSp>
        <p:nvGrpSpPr>
          <p:cNvPr name="Group 2" id="2"/>
          <p:cNvGrpSpPr/>
          <p:nvPr/>
        </p:nvGrpSpPr>
        <p:grpSpPr>
          <a:xfrm rot="0">
            <a:off x="206361" y="3127871"/>
            <a:ext cx="17875278" cy="6434433"/>
            <a:chOff x="0" y="0"/>
            <a:chExt cx="23833704" cy="8579244"/>
          </a:xfrm>
        </p:grpSpPr>
        <p:grpSp>
          <p:nvGrpSpPr>
            <p:cNvPr name="Group 3" id="3"/>
            <p:cNvGrpSpPr/>
            <p:nvPr/>
          </p:nvGrpSpPr>
          <p:grpSpPr>
            <a:xfrm rot="0">
              <a:off x="7078050" y="51583"/>
              <a:ext cx="2814291" cy="28142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0" t="0" r="0" b="0"/>
                </a:stretch>
              </a:blipFill>
            </p:spPr>
          </p:sp>
        </p:grpSp>
        <p:grpSp>
          <p:nvGrpSpPr>
            <p:cNvPr name="Group 5" id="5"/>
            <p:cNvGrpSpPr/>
            <p:nvPr/>
          </p:nvGrpSpPr>
          <p:grpSpPr>
            <a:xfrm rot="0">
              <a:off x="10563391" y="0"/>
              <a:ext cx="2814291" cy="28142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0" t="0" r="0" b="0"/>
                </a:stretch>
              </a:blipFill>
            </p:spPr>
          </p:sp>
        </p:grpSp>
        <p:grpSp>
          <p:nvGrpSpPr>
            <p:cNvPr name="Group 7" id="7"/>
            <p:cNvGrpSpPr/>
            <p:nvPr/>
          </p:nvGrpSpPr>
          <p:grpSpPr>
            <a:xfrm rot="0">
              <a:off x="0" y="0"/>
              <a:ext cx="2865874" cy="286587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0" t="0" r="0" b="0"/>
                </a:stretch>
              </a:blipFill>
            </p:spPr>
          </p:sp>
        </p:grpSp>
        <p:grpSp>
          <p:nvGrpSpPr>
            <p:cNvPr name="Group 9" id="9"/>
            <p:cNvGrpSpPr/>
            <p:nvPr/>
          </p:nvGrpSpPr>
          <p:grpSpPr>
            <a:xfrm rot="0">
              <a:off x="17534073" y="51583"/>
              <a:ext cx="2814291" cy="281429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0" t="0" r="0" b="0"/>
                </a:stretch>
              </a:blipFill>
            </p:spPr>
          </p:sp>
        </p:grpSp>
        <p:grpSp>
          <p:nvGrpSpPr>
            <p:cNvPr name="Group 11" id="11"/>
            <p:cNvGrpSpPr/>
            <p:nvPr/>
          </p:nvGrpSpPr>
          <p:grpSpPr>
            <a:xfrm rot="0">
              <a:off x="3541126" y="0"/>
              <a:ext cx="2865874" cy="286587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6"/>
                <a:stretch>
                  <a:fillRect l="0" t="0" r="0" b="0"/>
                </a:stretch>
              </a:blipFill>
            </p:spPr>
          </p:sp>
        </p:grpSp>
        <p:grpSp>
          <p:nvGrpSpPr>
            <p:cNvPr name="Group 13" id="13"/>
            <p:cNvGrpSpPr/>
            <p:nvPr/>
          </p:nvGrpSpPr>
          <p:grpSpPr>
            <a:xfrm rot="0">
              <a:off x="14048732" y="0"/>
              <a:ext cx="2814291" cy="281429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7"/>
                <a:stretch>
                  <a:fillRect l="0" t="0" r="0" b="0"/>
                </a:stretch>
              </a:blipFill>
            </p:spPr>
          </p:sp>
        </p:grpSp>
        <p:grpSp>
          <p:nvGrpSpPr>
            <p:cNvPr name="Group 15" id="15"/>
            <p:cNvGrpSpPr/>
            <p:nvPr/>
          </p:nvGrpSpPr>
          <p:grpSpPr>
            <a:xfrm rot="0">
              <a:off x="21019413" y="51583"/>
              <a:ext cx="2814291" cy="28142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8"/>
                <a:stretch>
                  <a:fillRect l="0" t="0" r="0" b="0"/>
                </a:stretch>
              </a:blipFill>
            </p:spPr>
          </p:sp>
        </p:grpSp>
        <p:grpSp>
          <p:nvGrpSpPr>
            <p:cNvPr name="Group 17" id="17"/>
            <p:cNvGrpSpPr/>
            <p:nvPr/>
          </p:nvGrpSpPr>
          <p:grpSpPr>
            <a:xfrm rot="0">
              <a:off x="17543220" y="5865606"/>
              <a:ext cx="2713638" cy="271363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9"/>
                <a:stretch>
                  <a:fillRect l="0" t="0" r="0" b="0"/>
                </a:stretch>
              </a:blipFill>
            </p:spPr>
          </p:sp>
        </p:grpSp>
        <p:grpSp>
          <p:nvGrpSpPr>
            <p:cNvPr name="Group 19" id="19"/>
            <p:cNvGrpSpPr/>
            <p:nvPr/>
          </p:nvGrpSpPr>
          <p:grpSpPr>
            <a:xfrm rot="0">
              <a:off x="21102538" y="5848077"/>
              <a:ext cx="2731166" cy="27311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0"/>
                <a:stretch>
                  <a:fillRect l="0" t="0" r="0" b="0"/>
                </a:stretch>
              </a:blipFill>
            </p:spPr>
          </p:sp>
        </p:grpSp>
        <p:grpSp>
          <p:nvGrpSpPr>
            <p:cNvPr name="Group 21" id="21"/>
            <p:cNvGrpSpPr/>
            <p:nvPr/>
          </p:nvGrpSpPr>
          <p:grpSpPr>
            <a:xfrm rot="0">
              <a:off x="14041911" y="5849777"/>
              <a:ext cx="2724960" cy="272496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1"/>
                <a:stretch>
                  <a:fillRect l="0" t="0" r="0" b="0"/>
                </a:stretch>
              </a:blipFill>
            </p:spPr>
          </p:sp>
        </p:grpSp>
        <p:grpSp>
          <p:nvGrpSpPr>
            <p:cNvPr name="Group 23" id="23"/>
            <p:cNvGrpSpPr/>
            <p:nvPr/>
          </p:nvGrpSpPr>
          <p:grpSpPr>
            <a:xfrm rot="0">
              <a:off x="10530446" y="5849777"/>
              <a:ext cx="2729467" cy="272946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2"/>
                <a:stretch>
                  <a:fillRect l="0" t="0" r="0" b="0"/>
                </a:stretch>
              </a:blipFill>
            </p:spPr>
          </p:sp>
        </p:grpSp>
        <p:grpSp>
          <p:nvGrpSpPr>
            <p:cNvPr name="Group 25" id="25"/>
            <p:cNvGrpSpPr/>
            <p:nvPr/>
          </p:nvGrpSpPr>
          <p:grpSpPr>
            <a:xfrm rot="0">
              <a:off x="3505817" y="5848077"/>
              <a:ext cx="2731166" cy="273116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3"/>
                <a:stretch>
                  <a:fillRect l="0" t="0" r="0" b="0"/>
                </a:stretch>
              </a:blipFill>
            </p:spPr>
          </p:sp>
        </p:grpSp>
        <p:grpSp>
          <p:nvGrpSpPr>
            <p:cNvPr name="Group 27" id="27"/>
            <p:cNvGrpSpPr/>
            <p:nvPr/>
          </p:nvGrpSpPr>
          <p:grpSpPr>
            <a:xfrm rot="0">
              <a:off x="7017282" y="5848077"/>
              <a:ext cx="2731166" cy="273116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4"/>
                <a:stretch>
                  <a:fillRect l="0" t="0" r="0" b="0"/>
                </a:stretch>
              </a:blipFill>
            </p:spPr>
          </p:sp>
        </p:grpSp>
        <p:grpSp>
          <p:nvGrpSpPr>
            <p:cNvPr name="Group 29" id="29"/>
            <p:cNvGrpSpPr/>
            <p:nvPr/>
          </p:nvGrpSpPr>
          <p:grpSpPr>
            <a:xfrm rot="0">
              <a:off x="0" y="5849777"/>
              <a:ext cx="2729467" cy="272946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5"/>
                <a:stretch>
                  <a:fillRect l="0" t="0" r="0" b="0"/>
                </a:stretch>
              </a:blipFill>
            </p:spPr>
          </p:sp>
        </p:grpSp>
        <p:sp>
          <p:nvSpPr>
            <p:cNvPr name="Freeform 31" id="31"/>
            <p:cNvSpPr/>
            <p:nvPr/>
          </p:nvSpPr>
          <p:spPr>
            <a:xfrm flipH="false" flipV="false" rot="5400000">
              <a:off x="10069379" y="3867939"/>
              <a:ext cx="2716872" cy="978074"/>
            </a:xfrm>
            <a:custGeom>
              <a:avLst/>
              <a:gdLst/>
              <a:ahLst/>
              <a:cxnLst/>
              <a:rect r="r" b="b" t="t" l="l"/>
              <a:pathLst>
                <a:path h="978074" w="2716872">
                  <a:moveTo>
                    <a:pt x="0" y="0"/>
                  </a:moveTo>
                  <a:lnTo>
                    <a:pt x="2716872" y="0"/>
                  </a:lnTo>
                  <a:lnTo>
                    <a:pt x="2716872" y="978074"/>
                  </a:lnTo>
                  <a:lnTo>
                    <a:pt x="0" y="97807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32" id="32"/>
          <p:cNvGrpSpPr/>
          <p:nvPr/>
        </p:nvGrpSpPr>
        <p:grpSpPr>
          <a:xfrm rot="0">
            <a:off x="206361" y="2185634"/>
            <a:ext cx="2172778" cy="789394"/>
            <a:chOff x="0" y="0"/>
            <a:chExt cx="2897037" cy="1052525"/>
          </a:xfrm>
        </p:grpSpPr>
        <p:grpSp>
          <p:nvGrpSpPr>
            <p:cNvPr name="Group 33" id="33"/>
            <p:cNvGrpSpPr/>
            <p:nvPr/>
          </p:nvGrpSpPr>
          <p:grpSpPr>
            <a:xfrm rot="0">
              <a:off x="0" y="58511"/>
              <a:ext cx="2829154" cy="994014"/>
              <a:chOff x="0" y="0"/>
              <a:chExt cx="1287399" cy="452323"/>
            </a:xfrm>
          </p:grpSpPr>
          <p:sp>
            <p:nvSpPr>
              <p:cNvPr name="Freeform 34" id="34"/>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35" id="35"/>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36" id="36"/>
            <p:cNvGrpSpPr/>
            <p:nvPr/>
          </p:nvGrpSpPr>
          <p:grpSpPr>
            <a:xfrm rot="0">
              <a:off x="67883" y="0"/>
              <a:ext cx="2829154" cy="994014"/>
              <a:chOff x="0" y="0"/>
              <a:chExt cx="1287399" cy="452323"/>
            </a:xfrm>
          </p:grpSpPr>
          <p:sp>
            <p:nvSpPr>
              <p:cNvPr name="Freeform 37" id="37"/>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38" id="38"/>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Angry</a:t>
                </a:r>
              </a:p>
            </p:txBody>
          </p:sp>
        </p:grpSp>
      </p:grpSp>
      <p:grpSp>
        <p:nvGrpSpPr>
          <p:cNvPr name="Group 39" id="39"/>
          <p:cNvGrpSpPr/>
          <p:nvPr/>
        </p:nvGrpSpPr>
        <p:grpSpPr>
          <a:xfrm rot="0">
            <a:off x="15908861" y="2248137"/>
            <a:ext cx="2172778" cy="789394"/>
            <a:chOff x="0" y="0"/>
            <a:chExt cx="2897037" cy="1052525"/>
          </a:xfrm>
        </p:grpSpPr>
        <p:grpSp>
          <p:nvGrpSpPr>
            <p:cNvPr name="Group 40" id="40"/>
            <p:cNvGrpSpPr/>
            <p:nvPr/>
          </p:nvGrpSpPr>
          <p:grpSpPr>
            <a:xfrm rot="0">
              <a:off x="0" y="58511"/>
              <a:ext cx="2829154" cy="994014"/>
              <a:chOff x="0" y="0"/>
              <a:chExt cx="1287399" cy="452323"/>
            </a:xfrm>
          </p:grpSpPr>
          <p:sp>
            <p:nvSpPr>
              <p:cNvPr name="Freeform 41" id="41"/>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42" id="42"/>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43" id="43"/>
            <p:cNvGrpSpPr/>
            <p:nvPr/>
          </p:nvGrpSpPr>
          <p:grpSpPr>
            <a:xfrm rot="0">
              <a:off x="67883" y="0"/>
              <a:ext cx="2829154" cy="994014"/>
              <a:chOff x="0" y="0"/>
              <a:chExt cx="1287399" cy="452323"/>
            </a:xfrm>
          </p:grpSpPr>
          <p:sp>
            <p:nvSpPr>
              <p:cNvPr name="Freeform 44" id="44"/>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45" id="45"/>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Surprise</a:t>
                </a:r>
              </a:p>
            </p:txBody>
          </p:sp>
        </p:grpSp>
      </p:grpSp>
      <p:grpSp>
        <p:nvGrpSpPr>
          <p:cNvPr name="Group 46" id="46"/>
          <p:cNvGrpSpPr/>
          <p:nvPr/>
        </p:nvGrpSpPr>
        <p:grpSpPr>
          <a:xfrm rot="0">
            <a:off x="13279467" y="2248137"/>
            <a:ext cx="2172778" cy="789394"/>
            <a:chOff x="0" y="0"/>
            <a:chExt cx="2897037" cy="1052525"/>
          </a:xfrm>
        </p:grpSpPr>
        <p:grpSp>
          <p:nvGrpSpPr>
            <p:cNvPr name="Group 47" id="47"/>
            <p:cNvGrpSpPr/>
            <p:nvPr/>
          </p:nvGrpSpPr>
          <p:grpSpPr>
            <a:xfrm rot="0">
              <a:off x="0" y="58511"/>
              <a:ext cx="2829154" cy="994014"/>
              <a:chOff x="0" y="0"/>
              <a:chExt cx="1287399" cy="452323"/>
            </a:xfrm>
          </p:grpSpPr>
          <p:sp>
            <p:nvSpPr>
              <p:cNvPr name="Freeform 48" id="48"/>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49" id="49"/>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50" id="50"/>
            <p:cNvGrpSpPr/>
            <p:nvPr/>
          </p:nvGrpSpPr>
          <p:grpSpPr>
            <a:xfrm rot="0">
              <a:off x="67883" y="0"/>
              <a:ext cx="2829154" cy="994014"/>
              <a:chOff x="0" y="0"/>
              <a:chExt cx="1287399" cy="452323"/>
            </a:xfrm>
          </p:grpSpPr>
          <p:sp>
            <p:nvSpPr>
              <p:cNvPr name="Freeform 51" id="51"/>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52" id="52"/>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Sad</a:t>
                </a:r>
              </a:p>
            </p:txBody>
          </p:sp>
        </p:grpSp>
      </p:grpSp>
      <p:grpSp>
        <p:nvGrpSpPr>
          <p:cNvPr name="Group 53" id="53"/>
          <p:cNvGrpSpPr/>
          <p:nvPr/>
        </p:nvGrpSpPr>
        <p:grpSpPr>
          <a:xfrm rot="0">
            <a:off x="10725689" y="2248137"/>
            <a:ext cx="2172778" cy="789394"/>
            <a:chOff x="0" y="0"/>
            <a:chExt cx="2897037" cy="1052525"/>
          </a:xfrm>
        </p:grpSpPr>
        <p:grpSp>
          <p:nvGrpSpPr>
            <p:cNvPr name="Group 54" id="54"/>
            <p:cNvGrpSpPr/>
            <p:nvPr/>
          </p:nvGrpSpPr>
          <p:grpSpPr>
            <a:xfrm rot="0">
              <a:off x="0" y="58511"/>
              <a:ext cx="2829154" cy="994014"/>
              <a:chOff x="0" y="0"/>
              <a:chExt cx="1287399" cy="452323"/>
            </a:xfrm>
          </p:grpSpPr>
          <p:sp>
            <p:nvSpPr>
              <p:cNvPr name="Freeform 55" id="55"/>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56" id="56"/>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57" id="57"/>
            <p:cNvGrpSpPr/>
            <p:nvPr/>
          </p:nvGrpSpPr>
          <p:grpSpPr>
            <a:xfrm rot="0">
              <a:off x="67883" y="0"/>
              <a:ext cx="2829154" cy="994014"/>
              <a:chOff x="0" y="0"/>
              <a:chExt cx="1287399" cy="452323"/>
            </a:xfrm>
          </p:grpSpPr>
          <p:sp>
            <p:nvSpPr>
              <p:cNvPr name="Freeform 58" id="58"/>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59" id="59"/>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Neutral</a:t>
                </a:r>
              </a:p>
            </p:txBody>
          </p:sp>
        </p:grpSp>
      </p:grpSp>
      <p:grpSp>
        <p:nvGrpSpPr>
          <p:cNvPr name="Group 60" id="60"/>
          <p:cNvGrpSpPr/>
          <p:nvPr/>
        </p:nvGrpSpPr>
        <p:grpSpPr>
          <a:xfrm rot="0">
            <a:off x="2836339" y="2248137"/>
            <a:ext cx="2172778" cy="789394"/>
            <a:chOff x="0" y="0"/>
            <a:chExt cx="2897037" cy="1052525"/>
          </a:xfrm>
        </p:grpSpPr>
        <p:grpSp>
          <p:nvGrpSpPr>
            <p:cNvPr name="Group 61" id="61"/>
            <p:cNvGrpSpPr/>
            <p:nvPr/>
          </p:nvGrpSpPr>
          <p:grpSpPr>
            <a:xfrm rot="0">
              <a:off x="0" y="58511"/>
              <a:ext cx="2829154" cy="994014"/>
              <a:chOff x="0" y="0"/>
              <a:chExt cx="1287399" cy="452323"/>
            </a:xfrm>
          </p:grpSpPr>
          <p:sp>
            <p:nvSpPr>
              <p:cNvPr name="Freeform 62" id="62"/>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63" id="63"/>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64" id="64"/>
            <p:cNvGrpSpPr/>
            <p:nvPr/>
          </p:nvGrpSpPr>
          <p:grpSpPr>
            <a:xfrm rot="0">
              <a:off x="67883" y="0"/>
              <a:ext cx="2829154" cy="994014"/>
              <a:chOff x="0" y="0"/>
              <a:chExt cx="1287399" cy="452323"/>
            </a:xfrm>
          </p:grpSpPr>
          <p:sp>
            <p:nvSpPr>
              <p:cNvPr name="Freeform 65" id="65"/>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66" id="66"/>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Disgust</a:t>
                </a:r>
              </a:p>
            </p:txBody>
          </p:sp>
        </p:grpSp>
      </p:grpSp>
      <p:grpSp>
        <p:nvGrpSpPr>
          <p:cNvPr name="Group 67" id="67"/>
          <p:cNvGrpSpPr/>
          <p:nvPr/>
        </p:nvGrpSpPr>
        <p:grpSpPr>
          <a:xfrm rot="0">
            <a:off x="8057611" y="2248137"/>
            <a:ext cx="2172778" cy="789394"/>
            <a:chOff x="0" y="0"/>
            <a:chExt cx="2897037" cy="1052525"/>
          </a:xfrm>
        </p:grpSpPr>
        <p:grpSp>
          <p:nvGrpSpPr>
            <p:cNvPr name="Group 68" id="68"/>
            <p:cNvGrpSpPr/>
            <p:nvPr/>
          </p:nvGrpSpPr>
          <p:grpSpPr>
            <a:xfrm rot="0">
              <a:off x="0" y="58511"/>
              <a:ext cx="2829154" cy="994014"/>
              <a:chOff x="0" y="0"/>
              <a:chExt cx="1287399" cy="452323"/>
            </a:xfrm>
          </p:grpSpPr>
          <p:sp>
            <p:nvSpPr>
              <p:cNvPr name="Freeform 69" id="69"/>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70" id="70"/>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71" id="71"/>
            <p:cNvGrpSpPr/>
            <p:nvPr/>
          </p:nvGrpSpPr>
          <p:grpSpPr>
            <a:xfrm rot="0">
              <a:off x="67883" y="0"/>
              <a:ext cx="2829154" cy="994014"/>
              <a:chOff x="0" y="0"/>
              <a:chExt cx="1287399" cy="452323"/>
            </a:xfrm>
          </p:grpSpPr>
          <p:sp>
            <p:nvSpPr>
              <p:cNvPr name="Freeform 72" id="72"/>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73" id="73"/>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Happy</a:t>
                </a:r>
              </a:p>
            </p:txBody>
          </p:sp>
        </p:grpSp>
      </p:grpSp>
      <p:grpSp>
        <p:nvGrpSpPr>
          <p:cNvPr name="Group 74" id="74"/>
          <p:cNvGrpSpPr/>
          <p:nvPr/>
        </p:nvGrpSpPr>
        <p:grpSpPr>
          <a:xfrm rot="0">
            <a:off x="5385703" y="2248137"/>
            <a:ext cx="2172778" cy="789394"/>
            <a:chOff x="0" y="0"/>
            <a:chExt cx="2897037" cy="1052525"/>
          </a:xfrm>
        </p:grpSpPr>
        <p:grpSp>
          <p:nvGrpSpPr>
            <p:cNvPr name="Group 75" id="75"/>
            <p:cNvGrpSpPr/>
            <p:nvPr/>
          </p:nvGrpSpPr>
          <p:grpSpPr>
            <a:xfrm rot="0">
              <a:off x="0" y="58511"/>
              <a:ext cx="2829154" cy="994014"/>
              <a:chOff x="0" y="0"/>
              <a:chExt cx="1287399" cy="452323"/>
            </a:xfrm>
          </p:grpSpPr>
          <p:sp>
            <p:nvSpPr>
              <p:cNvPr name="Freeform 76" id="76"/>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181821"/>
              </a:solidFill>
              <a:ln w="38100" cap="rnd">
                <a:solidFill>
                  <a:srgbClr val="2E2D2D"/>
                </a:solidFill>
                <a:prstDash val="solid"/>
                <a:round/>
              </a:ln>
            </p:spPr>
          </p:sp>
          <p:sp>
            <p:nvSpPr>
              <p:cNvPr name="TextBox 77" id="77"/>
              <p:cNvSpPr txBox="true"/>
              <p:nvPr/>
            </p:nvSpPr>
            <p:spPr>
              <a:xfrm>
                <a:off x="0" y="-38100"/>
                <a:ext cx="1287399" cy="490423"/>
              </a:xfrm>
              <a:prstGeom prst="rect">
                <a:avLst/>
              </a:prstGeom>
            </p:spPr>
            <p:txBody>
              <a:bodyPr anchor="ctr" rtlCol="false" tIns="50800" lIns="50800" bIns="50800" rIns="50800"/>
              <a:lstStyle/>
              <a:p>
                <a:pPr algn="ctr">
                  <a:lnSpc>
                    <a:spcPts val="2660"/>
                  </a:lnSpc>
                </a:pPr>
              </a:p>
            </p:txBody>
          </p:sp>
        </p:grpSp>
        <p:grpSp>
          <p:nvGrpSpPr>
            <p:cNvPr name="Group 78" id="78"/>
            <p:cNvGrpSpPr/>
            <p:nvPr/>
          </p:nvGrpSpPr>
          <p:grpSpPr>
            <a:xfrm rot="0">
              <a:off x="67883" y="0"/>
              <a:ext cx="2829154" cy="994014"/>
              <a:chOff x="0" y="0"/>
              <a:chExt cx="1287399" cy="452323"/>
            </a:xfrm>
          </p:grpSpPr>
          <p:sp>
            <p:nvSpPr>
              <p:cNvPr name="Freeform 79" id="79"/>
              <p:cNvSpPr/>
              <p:nvPr/>
            </p:nvSpPr>
            <p:spPr>
              <a:xfrm flipH="false" flipV="false" rot="0">
                <a:off x="0" y="0"/>
                <a:ext cx="1287399" cy="452323"/>
              </a:xfrm>
              <a:custGeom>
                <a:avLst/>
                <a:gdLst/>
                <a:ahLst/>
                <a:cxnLst/>
                <a:rect r="r" b="b" t="t" l="l"/>
                <a:pathLst>
                  <a:path h="452323" w="1287399">
                    <a:moveTo>
                      <a:pt x="77608" y="0"/>
                    </a:moveTo>
                    <a:lnTo>
                      <a:pt x="1209792" y="0"/>
                    </a:lnTo>
                    <a:cubicBezTo>
                      <a:pt x="1252653" y="0"/>
                      <a:pt x="1287399" y="34746"/>
                      <a:pt x="1287399" y="77608"/>
                    </a:cubicBezTo>
                    <a:lnTo>
                      <a:pt x="1287399" y="374716"/>
                    </a:lnTo>
                    <a:cubicBezTo>
                      <a:pt x="1287399" y="417577"/>
                      <a:pt x="1252653" y="452323"/>
                      <a:pt x="1209792" y="452323"/>
                    </a:cubicBezTo>
                    <a:lnTo>
                      <a:pt x="77608" y="452323"/>
                    </a:lnTo>
                    <a:cubicBezTo>
                      <a:pt x="34746" y="452323"/>
                      <a:pt x="0" y="417577"/>
                      <a:pt x="0" y="374716"/>
                    </a:cubicBezTo>
                    <a:lnTo>
                      <a:pt x="0" y="77608"/>
                    </a:lnTo>
                    <a:cubicBezTo>
                      <a:pt x="0" y="34746"/>
                      <a:pt x="34746" y="0"/>
                      <a:pt x="77608" y="0"/>
                    </a:cubicBezTo>
                    <a:close/>
                  </a:path>
                </a:pathLst>
              </a:custGeom>
              <a:solidFill>
                <a:srgbClr val="F1F5F8"/>
              </a:solidFill>
              <a:ln w="38100" cap="rnd">
                <a:solidFill>
                  <a:srgbClr val="2E2D2D"/>
                </a:solidFill>
                <a:prstDash val="solid"/>
                <a:round/>
              </a:ln>
            </p:spPr>
          </p:sp>
          <p:sp>
            <p:nvSpPr>
              <p:cNvPr name="TextBox 80" id="80"/>
              <p:cNvSpPr txBox="true"/>
              <p:nvPr/>
            </p:nvSpPr>
            <p:spPr>
              <a:xfrm>
                <a:off x="0" y="-66675"/>
                <a:ext cx="1287399" cy="518998"/>
              </a:xfrm>
              <a:prstGeom prst="rect">
                <a:avLst/>
              </a:prstGeom>
            </p:spPr>
            <p:txBody>
              <a:bodyPr anchor="ctr" rtlCol="false" tIns="50800" lIns="50800" bIns="50800" rIns="50800"/>
              <a:lstStyle/>
              <a:p>
                <a:pPr algn="ctr">
                  <a:lnSpc>
                    <a:spcPts val="4200"/>
                  </a:lnSpc>
                </a:pPr>
                <a:r>
                  <a:rPr lang="en-US" sz="3000" b="true">
                    <a:solidFill>
                      <a:srgbClr val="000000"/>
                    </a:solidFill>
                    <a:latin typeface="Glacial Indifference Bold"/>
                    <a:ea typeface="Glacial Indifference Bold"/>
                    <a:cs typeface="Glacial Indifference Bold"/>
                    <a:sym typeface="Glacial Indifference Bold"/>
                  </a:rPr>
                  <a:t>Fear</a:t>
                </a:r>
              </a:p>
            </p:txBody>
          </p:sp>
        </p:grpSp>
      </p:grpSp>
      <p:grpSp>
        <p:nvGrpSpPr>
          <p:cNvPr name="Group 81" id="81"/>
          <p:cNvGrpSpPr/>
          <p:nvPr/>
        </p:nvGrpSpPr>
        <p:grpSpPr>
          <a:xfrm rot="0">
            <a:off x="7149721" y="196410"/>
            <a:ext cx="3080668" cy="1385176"/>
            <a:chOff x="0" y="0"/>
            <a:chExt cx="4107558" cy="1846901"/>
          </a:xfrm>
        </p:grpSpPr>
        <p:grpSp>
          <p:nvGrpSpPr>
            <p:cNvPr name="Group 82" id="82"/>
            <p:cNvGrpSpPr/>
            <p:nvPr/>
          </p:nvGrpSpPr>
          <p:grpSpPr>
            <a:xfrm rot="0">
              <a:off x="0" y="102672"/>
              <a:ext cx="4011310" cy="1744229"/>
              <a:chOff x="0" y="0"/>
              <a:chExt cx="1825336" cy="793707"/>
            </a:xfrm>
          </p:grpSpPr>
          <p:sp>
            <p:nvSpPr>
              <p:cNvPr name="Freeform 83" id="83"/>
              <p:cNvSpPr/>
              <p:nvPr/>
            </p:nvSpPr>
            <p:spPr>
              <a:xfrm flipH="false" flipV="false" rot="0">
                <a:off x="0" y="0"/>
                <a:ext cx="1825336" cy="793707"/>
              </a:xfrm>
              <a:custGeom>
                <a:avLst/>
                <a:gdLst/>
                <a:ahLst/>
                <a:cxnLst/>
                <a:rect r="r" b="b" t="t" l="l"/>
                <a:pathLst>
                  <a:path h="793707" w="1825336">
                    <a:moveTo>
                      <a:pt x="54736" y="0"/>
                    </a:moveTo>
                    <a:lnTo>
                      <a:pt x="1770600" y="0"/>
                    </a:lnTo>
                    <a:cubicBezTo>
                      <a:pt x="1785117" y="0"/>
                      <a:pt x="1799040" y="5767"/>
                      <a:pt x="1809304" y="16032"/>
                    </a:cubicBezTo>
                    <a:cubicBezTo>
                      <a:pt x="1819570" y="26297"/>
                      <a:pt x="1825336" y="40219"/>
                      <a:pt x="1825336" y="54736"/>
                    </a:cubicBezTo>
                    <a:lnTo>
                      <a:pt x="1825336" y="738971"/>
                    </a:lnTo>
                    <a:cubicBezTo>
                      <a:pt x="1825336" y="753488"/>
                      <a:pt x="1819570" y="767410"/>
                      <a:pt x="1809304" y="777675"/>
                    </a:cubicBezTo>
                    <a:cubicBezTo>
                      <a:pt x="1799040" y="787940"/>
                      <a:pt x="1785117" y="793707"/>
                      <a:pt x="1770600" y="793707"/>
                    </a:cubicBezTo>
                    <a:lnTo>
                      <a:pt x="54736" y="793707"/>
                    </a:lnTo>
                    <a:cubicBezTo>
                      <a:pt x="40219" y="793707"/>
                      <a:pt x="26297" y="787940"/>
                      <a:pt x="16032" y="777675"/>
                    </a:cubicBezTo>
                    <a:cubicBezTo>
                      <a:pt x="5767" y="767410"/>
                      <a:pt x="0" y="753488"/>
                      <a:pt x="0" y="738971"/>
                    </a:cubicBezTo>
                    <a:lnTo>
                      <a:pt x="0" y="54736"/>
                    </a:lnTo>
                    <a:cubicBezTo>
                      <a:pt x="0" y="40219"/>
                      <a:pt x="5767" y="26297"/>
                      <a:pt x="16032" y="16032"/>
                    </a:cubicBezTo>
                    <a:cubicBezTo>
                      <a:pt x="26297" y="5767"/>
                      <a:pt x="40219" y="0"/>
                      <a:pt x="54736" y="0"/>
                    </a:cubicBezTo>
                    <a:close/>
                  </a:path>
                </a:pathLst>
              </a:custGeom>
              <a:solidFill>
                <a:srgbClr val="181821"/>
              </a:solidFill>
              <a:ln w="38100" cap="rnd">
                <a:solidFill>
                  <a:srgbClr val="2E2D2D"/>
                </a:solidFill>
                <a:prstDash val="solid"/>
                <a:round/>
              </a:ln>
            </p:spPr>
          </p:sp>
          <p:sp>
            <p:nvSpPr>
              <p:cNvPr name="TextBox 84" id="84"/>
              <p:cNvSpPr txBox="true"/>
              <p:nvPr/>
            </p:nvSpPr>
            <p:spPr>
              <a:xfrm>
                <a:off x="0" y="-38100"/>
                <a:ext cx="1825336" cy="831807"/>
              </a:xfrm>
              <a:prstGeom prst="rect">
                <a:avLst/>
              </a:prstGeom>
            </p:spPr>
            <p:txBody>
              <a:bodyPr anchor="ctr" rtlCol="false" tIns="50800" lIns="50800" bIns="50800" rIns="50800"/>
              <a:lstStyle/>
              <a:p>
                <a:pPr algn="ctr">
                  <a:lnSpc>
                    <a:spcPts val="2660"/>
                  </a:lnSpc>
                </a:pPr>
              </a:p>
            </p:txBody>
          </p:sp>
        </p:grpSp>
        <p:grpSp>
          <p:nvGrpSpPr>
            <p:cNvPr name="Group 85" id="85"/>
            <p:cNvGrpSpPr/>
            <p:nvPr/>
          </p:nvGrpSpPr>
          <p:grpSpPr>
            <a:xfrm rot="0">
              <a:off x="96247" y="0"/>
              <a:ext cx="4011310" cy="1744229"/>
              <a:chOff x="0" y="0"/>
              <a:chExt cx="1825336" cy="793707"/>
            </a:xfrm>
          </p:grpSpPr>
          <p:sp>
            <p:nvSpPr>
              <p:cNvPr name="Freeform 86" id="86"/>
              <p:cNvSpPr/>
              <p:nvPr/>
            </p:nvSpPr>
            <p:spPr>
              <a:xfrm flipH="false" flipV="false" rot="0">
                <a:off x="0" y="0"/>
                <a:ext cx="1825336" cy="793707"/>
              </a:xfrm>
              <a:custGeom>
                <a:avLst/>
                <a:gdLst/>
                <a:ahLst/>
                <a:cxnLst/>
                <a:rect r="r" b="b" t="t" l="l"/>
                <a:pathLst>
                  <a:path h="793707" w="1825336">
                    <a:moveTo>
                      <a:pt x="54736" y="0"/>
                    </a:moveTo>
                    <a:lnTo>
                      <a:pt x="1770600" y="0"/>
                    </a:lnTo>
                    <a:cubicBezTo>
                      <a:pt x="1785117" y="0"/>
                      <a:pt x="1799040" y="5767"/>
                      <a:pt x="1809304" y="16032"/>
                    </a:cubicBezTo>
                    <a:cubicBezTo>
                      <a:pt x="1819570" y="26297"/>
                      <a:pt x="1825336" y="40219"/>
                      <a:pt x="1825336" y="54736"/>
                    </a:cubicBezTo>
                    <a:lnTo>
                      <a:pt x="1825336" y="738971"/>
                    </a:lnTo>
                    <a:cubicBezTo>
                      <a:pt x="1825336" y="753488"/>
                      <a:pt x="1819570" y="767410"/>
                      <a:pt x="1809304" y="777675"/>
                    </a:cubicBezTo>
                    <a:cubicBezTo>
                      <a:pt x="1799040" y="787940"/>
                      <a:pt x="1785117" y="793707"/>
                      <a:pt x="1770600" y="793707"/>
                    </a:cubicBezTo>
                    <a:lnTo>
                      <a:pt x="54736" y="793707"/>
                    </a:lnTo>
                    <a:cubicBezTo>
                      <a:pt x="40219" y="793707"/>
                      <a:pt x="26297" y="787940"/>
                      <a:pt x="16032" y="777675"/>
                    </a:cubicBezTo>
                    <a:cubicBezTo>
                      <a:pt x="5767" y="767410"/>
                      <a:pt x="0" y="753488"/>
                      <a:pt x="0" y="738971"/>
                    </a:cubicBezTo>
                    <a:lnTo>
                      <a:pt x="0" y="54736"/>
                    </a:lnTo>
                    <a:cubicBezTo>
                      <a:pt x="0" y="40219"/>
                      <a:pt x="5767" y="26297"/>
                      <a:pt x="16032" y="16032"/>
                    </a:cubicBezTo>
                    <a:cubicBezTo>
                      <a:pt x="26297" y="5767"/>
                      <a:pt x="40219" y="0"/>
                      <a:pt x="54736" y="0"/>
                    </a:cubicBezTo>
                    <a:close/>
                  </a:path>
                </a:pathLst>
              </a:custGeom>
              <a:solidFill>
                <a:srgbClr val="FAB574"/>
              </a:solidFill>
              <a:ln w="38100" cap="rnd">
                <a:solidFill>
                  <a:srgbClr val="2E2D2D"/>
                </a:solidFill>
                <a:prstDash val="solid"/>
                <a:round/>
              </a:ln>
            </p:spPr>
          </p:sp>
          <p:sp>
            <p:nvSpPr>
              <p:cNvPr name="TextBox 87" id="87"/>
              <p:cNvSpPr txBox="true"/>
              <p:nvPr/>
            </p:nvSpPr>
            <p:spPr>
              <a:xfrm>
                <a:off x="0" y="-66675"/>
                <a:ext cx="1825336" cy="860382"/>
              </a:xfrm>
              <a:prstGeom prst="rect">
                <a:avLst/>
              </a:prstGeom>
            </p:spPr>
            <p:txBody>
              <a:bodyPr anchor="ctr" rtlCol="false" tIns="50800" lIns="50800" bIns="50800" rIns="50800"/>
              <a:lstStyle/>
              <a:p>
                <a:pPr algn="ctr">
                  <a:lnSpc>
                    <a:spcPts val="4200"/>
                  </a:lnSpc>
                </a:pPr>
              </a:p>
            </p:txBody>
          </p:sp>
        </p:grpSp>
        <p:sp>
          <p:nvSpPr>
            <p:cNvPr name="TextBox 88" id="88"/>
            <p:cNvSpPr txBox="true"/>
            <p:nvPr/>
          </p:nvSpPr>
          <p:spPr>
            <a:xfrm rot="0">
              <a:off x="670670" y="413544"/>
              <a:ext cx="2766219" cy="934087"/>
            </a:xfrm>
            <a:prstGeom prst="rect">
              <a:avLst/>
            </a:prstGeom>
          </p:spPr>
          <p:txBody>
            <a:bodyPr anchor="t" rtlCol="false" tIns="0" lIns="0" bIns="0" rIns="0">
              <a:spAutoFit/>
            </a:bodyPr>
            <a:lstStyle/>
            <a:p>
              <a:pPr algn="ctr">
                <a:lnSpc>
                  <a:spcPts val="5879"/>
                </a:lnSpc>
                <a:spcBef>
                  <a:spcPct val="0"/>
                </a:spcBef>
              </a:pPr>
              <a:r>
                <a:rPr lang="en-US" b="true" sz="4199">
                  <a:solidFill>
                    <a:srgbClr val="2E2D2D"/>
                  </a:solidFill>
                  <a:latin typeface="Glacial Indifference Bold"/>
                  <a:ea typeface="Glacial Indifference Bold"/>
                  <a:cs typeface="Glacial Indifference Bold"/>
                  <a:sym typeface="Glacial Indifference Bold"/>
                </a:rPr>
                <a:t>Dataset </a:t>
              </a:r>
            </a:p>
          </p:txBody>
        </p:sp>
      </p:grpSp>
      <p:grpSp>
        <p:nvGrpSpPr>
          <p:cNvPr name="Group 89" id="89"/>
          <p:cNvGrpSpPr/>
          <p:nvPr/>
        </p:nvGrpSpPr>
        <p:grpSpPr>
          <a:xfrm rot="0">
            <a:off x="10011183" y="5652500"/>
            <a:ext cx="5295510" cy="1753674"/>
            <a:chOff x="0" y="0"/>
            <a:chExt cx="7060680" cy="2338232"/>
          </a:xfrm>
        </p:grpSpPr>
        <p:grpSp>
          <p:nvGrpSpPr>
            <p:cNvPr name="Group 90" id="90"/>
            <p:cNvGrpSpPr/>
            <p:nvPr/>
          </p:nvGrpSpPr>
          <p:grpSpPr>
            <a:xfrm rot="0">
              <a:off x="0" y="102672"/>
              <a:ext cx="6895235" cy="1744229"/>
              <a:chOff x="0" y="0"/>
              <a:chExt cx="3137659" cy="793707"/>
            </a:xfrm>
          </p:grpSpPr>
          <p:sp>
            <p:nvSpPr>
              <p:cNvPr name="Freeform 91" id="91"/>
              <p:cNvSpPr/>
              <p:nvPr/>
            </p:nvSpPr>
            <p:spPr>
              <a:xfrm flipH="false" flipV="false" rot="0">
                <a:off x="0" y="0"/>
                <a:ext cx="3137659" cy="793707"/>
              </a:xfrm>
              <a:custGeom>
                <a:avLst/>
                <a:gdLst/>
                <a:ahLst/>
                <a:cxnLst/>
                <a:rect r="r" b="b" t="t" l="l"/>
                <a:pathLst>
                  <a:path h="793707" w="3137659">
                    <a:moveTo>
                      <a:pt x="31843" y="0"/>
                    </a:moveTo>
                    <a:lnTo>
                      <a:pt x="3105816" y="0"/>
                    </a:lnTo>
                    <a:cubicBezTo>
                      <a:pt x="3114261" y="0"/>
                      <a:pt x="3122361" y="3355"/>
                      <a:pt x="3128332" y="9327"/>
                    </a:cubicBezTo>
                    <a:cubicBezTo>
                      <a:pt x="3134304" y="15298"/>
                      <a:pt x="3137659" y="23398"/>
                      <a:pt x="3137659" y="31843"/>
                    </a:cubicBezTo>
                    <a:lnTo>
                      <a:pt x="3137659" y="761864"/>
                    </a:lnTo>
                    <a:cubicBezTo>
                      <a:pt x="3137659" y="770309"/>
                      <a:pt x="3134304" y="778409"/>
                      <a:pt x="3128332" y="784381"/>
                    </a:cubicBezTo>
                    <a:cubicBezTo>
                      <a:pt x="3122361" y="790352"/>
                      <a:pt x="3114261" y="793707"/>
                      <a:pt x="3105816" y="793707"/>
                    </a:cubicBezTo>
                    <a:lnTo>
                      <a:pt x="31843" y="793707"/>
                    </a:lnTo>
                    <a:cubicBezTo>
                      <a:pt x="23398" y="793707"/>
                      <a:pt x="15298" y="790352"/>
                      <a:pt x="9327" y="784381"/>
                    </a:cubicBezTo>
                    <a:cubicBezTo>
                      <a:pt x="3355" y="778409"/>
                      <a:pt x="0" y="770309"/>
                      <a:pt x="0" y="761864"/>
                    </a:cubicBezTo>
                    <a:lnTo>
                      <a:pt x="0" y="31843"/>
                    </a:lnTo>
                    <a:cubicBezTo>
                      <a:pt x="0" y="23398"/>
                      <a:pt x="3355" y="15298"/>
                      <a:pt x="9327" y="9327"/>
                    </a:cubicBezTo>
                    <a:cubicBezTo>
                      <a:pt x="15298" y="3355"/>
                      <a:pt x="23398" y="0"/>
                      <a:pt x="31843" y="0"/>
                    </a:cubicBezTo>
                    <a:close/>
                  </a:path>
                </a:pathLst>
              </a:custGeom>
              <a:solidFill>
                <a:srgbClr val="181821"/>
              </a:solidFill>
              <a:ln w="38100" cap="rnd">
                <a:solidFill>
                  <a:srgbClr val="2E2D2D"/>
                </a:solidFill>
                <a:prstDash val="solid"/>
                <a:round/>
              </a:ln>
            </p:spPr>
          </p:sp>
          <p:sp>
            <p:nvSpPr>
              <p:cNvPr name="TextBox 92" id="92"/>
              <p:cNvSpPr txBox="true"/>
              <p:nvPr/>
            </p:nvSpPr>
            <p:spPr>
              <a:xfrm>
                <a:off x="0" y="-38100"/>
                <a:ext cx="3137659" cy="831807"/>
              </a:xfrm>
              <a:prstGeom prst="rect">
                <a:avLst/>
              </a:prstGeom>
            </p:spPr>
            <p:txBody>
              <a:bodyPr anchor="ctr" rtlCol="false" tIns="50800" lIns="50800" bIns="50800" rIns="50800"/>
              <a:lstStyle/>
              <a:p>
                <a:pPr algn="ctr">
                  <a:lnSpc>
                    <a:spcPts val="2660"/>
                  </a:lnSpc>
                </a:pPr>
              </a:p>
            </p:txBody>
          </p:sp>
        </p:grpSp>
        <p:grpSp>
          <p:nvGrpSpPr>
            <p:cNvPr name="Group 93" id="93"/>
            <p:cNvGrpSpPr/>
            <p:nvPr/>
          </p:nvGrpSpPr>
          <p:grpSpPr>
            <a:xfrm rot="0">
              <a:off x="165444" y="0"/>
              <a:ext cx="6895235" cy="1744229"/>
              <a:chOff x="0" y="0"/>
              <a:chExt cx="3137659" cy="793707"/>
            </a:xfrm>
          </p:grpSpPr>
          <p:sp>
            <p:nvSpPr>
              <p:cNvPr name="Freeform 94" id="94"/>
              <p:cNvSpPr/>
              <p:nvPr/>
            </p:nvSpPr>
            <p:spPr>
              <a:xfrm flipH="false" flipV="false" rot="0">
                <a:off x="0" y="0"/>
                <a:ext cx="3137659" cy="793707"/>
              </a:xfrm>
              <a:custGeom>
                <a:avLst/>
                <a:gdLst/>
                <a:ahLst/>
                <a:cxnLst/>
                <a:rect r="r" b="b" t="t" l="l"/>
                <a:pathLst>
                  <a:path h="793707" w="3137659">
                    <a:moveTo>
                      <a:pt x="31843" y="0"/>
                    </a:moveTo>
                    <a:lnTo>
                      <a:pt x="3105816" y="0"/>
                    </a:lnTo>
                    <a:cubicBezTo>
                      <a:pt x="3114261" y="0"/>
                      <a:pt x="3122361" y="3355"/>
                      <a:pt x="3128332" y="9327"/>
                    </a:cubicBezTo>
                    <a:cubicBezTo>
                      <a:pt x="3134304" y="15298"/>
                      <a:pt x="3137659" y="23398"/>
                      <a:pt x="3137659" y="31843"/>
                    </a:cubicBezTo>
                    <a:lnTo>
                      <a:pt x="3137659" y="761864"/>
                    </a:lnTo>
                    <a:cubicBezTo>
                      <a:pt x="3137659" y="770309"/>
                      <a:pt x="3134304" y="778409"/>
                      <a:pt x="3128332" y="784381"/>
                    </a:cubicBezTo>
                    <a:cubicBezTo>
                      <a:pt x="3122361" y="790352"/>
                      <a:pt x="3114261" y="793707"/>
                      <a:pt x="3105816" y="793707"/>
                    </a:cubicBezTo>
                    <a:lnTo>
                      <a:pt x="31843" y="793707"/>
                    </a:lnTo>
                    <a:cubicBezTo>
                      <a:pt x="23398" y="793707"/>
                      <a:pt x="15298" y="790352"/>
                      <a:pt x="9327" y="784381"/>
                    </a:cubicBezTo>
                    <a:cubicBezTo>
                      <a:pt x="3355" y="778409"/>
                      <a:pt x="0" y="770309"/>
                      <a:pt x="0" y="761864"/>
                    </a:cubicBezTo>
                    <a:lnTo>
                      <a:pt x="0" y="31843"/>
                    </a:lnTo>
                    <a:cubicBezTo>
                      <a:pt x="0" y="23398"/>
                      <a:pt x="3355" y="15298"/>
                      <a:pt x="9327" y="9327"/>
                    </a:cubicBezTo>
                    <a:cubicBezTo>
                      <a:pt x="15298" y="3355"/>
                      <a:pt x="23398" y="0"/>
                      <a:pt x="31843" y="0"/>
                    </a:cubicBezTo>
                    <a:close/>
                  </a:path>
                </a:pathLst>
              </a:custGeom>
              <a:solidFill>
                <a:srgbClr val="F1F5F8"/>
              </a:solidFill>
              <a:ln w="38100" cap="rnd">
                <a:solidFill>
                  <a:srgbClr val="2E2D2D"/>
                </a:solidFill>
                <a:prstDash val="solid"/>
                <a:round/>
              </a:ln>
            </p:spPr>
          </p:sp>
          <p:sp>
            <p:nvSpPr>
              <p:cNvPr name="TextBox 95" id="95"/>
              <p:cNvSpPr txBox="true"/>
              <p:nvPr/>
            </p:nvSpPr>
            <p:spPr>
              <a:xfrm>
                <a:off x="0" y="-66675"/>
                <a:ext cx="3137659" cy="860382"/>
              </a:xfrm>
              <a:prstGeom prst="rect">
                <a:avLst/>
              </a:prstGeom>
            </p:spPr>
            <p:txBody>
              <a:bodyPr anchor="ctr" rtlCol="false" tIns="50800" lIns="50800" bIns="50800" rIns="50800"/>
              <a:lstStyle/>
              <a:p>
                <a:pPr algn="ctr">
                  <a:lnSpc>
                    <a:spcPts val="4200"/>
                  </a:lnSpc>
                </a:pPr>
              </a:p>
            </p:txBody>
          </p:sp>
        </p:grpSp>
        <p:sp>
          <p:nvSpPr>
            <p:cNvPr name="TextBox 96" id="96"/>
            <p:cNvSpPr txBox="true"/>
            <p:nvPr/>
          </p:nvSpPr>
          <p:spPr>
            <a:xfrm rot="0">
              <a:off x="1152846" y="413544"/>
              <a:ext cx="4754987" cy="1924687"/>
            </a:xfrm>
            <a:prstGeom prst="rect">
              <a:avLst/>
            </a:prstGeom>
          </p:spPr>
          <p:txBody>
            <a:bodyPr anchor="t" rtlCol="false" tIns="0" lIns="0" bIns="0" rIns="0">
              <a:spAutoFit/>
            </a:bodyPr>
            <a:lstStyle/>
            <a:p>
              <a:pPr algn="ctr">
                <a:lnSpc>
                  <a:spcPts val="5879"/>
                </a:lnSpc>
                <a:spcBef>
                  <a:spcPct val="0"/>
                </a:spcBef>
              </a:pPr>
              <a:r>
                <a:rPr lang="en-US" b="true" sz="4199">
                  <a:solidFill>
                    <a:srgbClr val="2E2D2D"/>
                  </a:solidFill>
                  <a:latin typeface="Glacial Indifference Bold"/>
                  <a:ea typeface="Glacial Indifference Bold"/>
                  <a:cs typeface="Glacial Indifference Bold"/>
                  <a:sym typeface="Glacial Indifference Bold"/>
                </a:rPr>
                <a:t>Preprocessingn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B574"/>
        </a:solidFill>
      </p:bgPr>
    </p:bg>
    <p:spTree>
      <p:nvGrpSpPr>
        <p:cNvPr id="1" name=""/>
        <p:cNvGrpSpPr/>
        <p:nvPr/>
      </p:nvGrpSpPr>
      <p:grpSpPr>
        <a:xfrm>
          <a:off x="0" y="0"/>
          <a:ext cx="0" cy="0"/>
          <a:chOff x="0" y="0"/>
          <a:chExt cx="0" cy="0"/>
        </a:xfrm>
      </p:grpSpPr>
      <p:grpSp>
        <p:nvGrpSpPr>
          <p:cNvPr name="Group 2" id="2"/>
          <p:cNvGrpSpPr/>
          <p:nvPr/>
        </p:nvGrpSpPr>
        <p:grpSpPr>
          <a:xfrm rot="0">
            <a:off x="134790" y="2347971"/>
            <a:ext cx="9978095" cy="4902965"/>
            <a:chOff x="0" y="0"/>
            <a:chExt cx="1727859" cy="849023"/>
          </a:xfrm>
        </p:grpSpPr>
        <p:sp>
          <p:nvSpPr>
            <p:cNvPr name="Freeform 3" id="3"/>
            <p:cNvSpPr/>
            <p:nvPr/>
          </p:nvSpPr>
          <p:spPr>
            <a:xfrm flipH="false" flipV="false" rot="0">
              <a:off x="0" y="0"/>
              <a:ext cx="1727859" cy="849023"/>
            </a:xfrm>
            <a:custGeom>
              <a:avLst/>
              <a:gdLst/>
              <a:ahLst/>
              <a:cxnLst/>
              <a:rect r="r" b="b" t="t" l="l"/>
              <a:pathLst>
                <a:path h="849023" w="1727859">
                  <a:moveTo>
                    <a:pt x="38019" y="0"/>
                  </a:moveTo>
                  <a:lnTo>
                    <a:pt x="1689840" y="0"/>
                  </a:lnTo>
                  <a:cubicBezTo>
                    <a:pt x="1710837" y="0"/>
                    <a:pt x="1727859" y="17022"/>
                    <a:pt x="1727859" y="38019"/>
                  </a:cubicBezTo>
                  <a:lnTo>
                    <a:pt x="1727859" y="811004"/>
                  </a:lnTo>
                  <a:cubicBezTo>
                    <a:pt x="1727859" y="821087"/>
                    <a:pt x="1723853" y="830758"/>
                    <a:pt x="1716723" y="837887"/>
                  </a:cubicBezTo>
                  <a:cubicBezTo>
                    <a:pt x="1709593" y="845017"/>
                    <a:pt x="1699923" y="849023"/>
                    <a:pt x="1689840" y="849023"/>
                  </a:cubicBezTo>
                  <a:lnTo>
                    <a:pt x="38019" y="849023"/>
                  </a:lnTo>
                  <a:cubicBezTo>
                    <a:pt x="17022" y="849023"/>
                    <a:pt x="0" y="832001"/>
                    <a:pt x="0" y="811004"/>
                  </a:cubicBezTo>
                  <a:lnTo>
                    <a:pt x="0" y="38019"/>
                  </a:lnTo>
                  <a:cubicBezTo>
                    <a:pt x="0" y="17022"/>
                    <a:pt x="17022" y="0"/>
                    <a:pt x="38019" y="0"/>
                  </a:cubicBezTo>
                  <a:close/>
                </a:path>
              </a:pathLst>
            </a:custGeom>
            <a:solidFill>
              <a:srgbClr val="181821"/>
            </a:solidFill>
            <a:ln w="38100" cap="rnd">
              <a:solidFill>
                <a:srgbClr val="2E2D2D"/>
              </a:solidFill>
              <a:prstDash val="solid"/>
              <a:round/>
            </a:ln>
          </p:spPr>
        </p:sp>
        <p:sp>
          <p:nvSpPr>
            <p:cNvPr name="TextBox 4" id="4"/>
            <p:cNvSpPr txBox="true"/>
            <p:nvPr/>
          </p:nvSpPr>
          <p:spPr>
            <a:xfrm>
              <a:off x="0" y="-38100"/>
              <a:ext cx="1727859" cy="887123"/>
            </a:xfrm>
            <a:prstGeom prst="rect">
              <a:avLst/>
            </a:prstGeom>
          </p:spPr>
          <p:txBody>
            <a:bodyPr anchor="ctr" rtlCol="false" tIns="77264" lIns="77264" bIns="77264" rIns="77264"/>
            <a:lstStyle/>
            <a:p>
              <a:pPr algn="ctr">
                <a:lnSpc>
                  <a:spcPts val="2660"/>
                </a:lnSpc>
              </a:pPr>
            </a:p>
          </p:txBody>
        </p:sp>
      </p:grpSp>
      <p:grpSp>
        <p:nvGrpSpPr>
          <p:cNvPr name="Group 5" id="5"/>
          <p:cNvGrpSpPr/>
          <p:nvPr/>
        </p:nvGrpSpPr>
        <p:grpSpPr>
          <a:xfrm rot="0">
            <a:off x="374204" y="2059365"/>
            <a:ext cx="9978095" cy="4902965"/>
            <a:chOff x="0" y="0"/>
            <a:chExt cx="1727859" cy="849023"/>
          </a:xfrm>
        </p:grpSpPr>
        <p:sp>
          <p:nvSpPr>
            <p:cNvPr name="Freeform 6" id="6"/>
            <p:cNvSpPr/>
            <p:nvPr/>
          </p:nvSpPr>
          <p:spPr>
            <a:xfrm flipH="false" flipV="false" rot="0">
              <a:off x="0" y="0"/>
              <a:ext cx="1727859" cy="849023"/>
            </a:xfrm>
            <a:custGeom>
              <a:avLst/>
              <a:gdLst/>
              <a:ahLst/>
              <a:cxnLst/>
              <a:rect r="r" b="b" t="t" l="l"/>
              <a:pathLst>
                <a:path h="849023" w="1727859">
                  <a:moveTo>
                    <a:pt x="38019" y="0"/>
                  </a:moveTo>
                  <a:lnTo>
                    <a:pt x="1689840" y="0"/>
                  </a:lnTo>
                  <a:cubicBezTo>
                    <a:pt x="1710837" y="0"/>
                    <a:pt x="1727859" y="17022"/>
                    <a:pt x="1727859" y="38019"/>
                  </a:cubicBezTo>
                  <a:lnTo>
                    <a:pt x="1727859" y="811004"/>
                  </a:lnTo>
                  <a:cubicBezTo>
                    <a:pt x="1727859" y="821087"/>
                    <a:pt x="1723853" y="830758"/>
                    <a:pt x="1716723" y="837887"/>
                  </a:cubicBezTo>
                  <a:cubicBezTo>
                    <a:pt x="1709593" y="845017"/>
                    <a:pt x="1699923" y="849023"/>
                    <a:pt x="1689840" y="849023"/>
                  </a:cubicBezTo>
                  <a:lnTo>
                    <a:pt x="38019" y="849023"/>
                  </a:lnTo>
                  <a:cubicBezTo>
                    <a:pt x="17022" y="849023"/>
                    <a:pt x="0" y="832001"/>
                    <a:pt x="0" y="811004"/>
                  </a:cubicBezTo>
                  <a:lnTo>
                    <a:pt x="0" y="38019"/>
                  </a:lnTo>
                  <a:cubicBezTo>
                    <a:pt x="0" y="17022"/>
                    <a:pt x="17022" y="0"/>
                    <a:pt x="38019" y="0"/>
                  </a:cubicBezTo>
                  <a:close/>
                </a:path>
              </a:pathLst>
            </a:custGeom>
            <a:solidFill>
              <a:srgbClr val="F1F5F8"/>
            </a:solidFill>
            <a:ln w="38100" cap="rnd">
              <a:solidFill>
                <a:srgbClr val="2E2D2D"/>
              </a:solidFill>
              <a:prstDash val="solid"/>
              <a:round/>
            </a:ln>
          </p:spPr>
        </p:sp>
        <p:sp>
          <p:nvSpPr>
            <p:cNvPr name="TextBox 7" id="7"/>
            <p:cNvSpPr txBox="true"/>
            <p:nvPr/>
          </p:nvSpPr>
          <p:spPr>
            <a:xfrm>
              <a:off x="0" y="-38100"/>
              <a:ext cx="1727859" cy="887123"/>
            </a:xfrm>
            <a:prstGeom prst="rect">
              <a:avLst/>
            </a:prstGeom>
          </p:spPr>
          <p:txBody>
            <a:bodyPr anchor="ctr" rtlCol="false" tIns="77264" lIns="77264" bIns="77264" rIns="77264"/>
            <a:lstStyle/>
            <a:p>
              <a:pPr algn="ctr">
                <a:lnSpc>
                  <a:spcPts val="2660"/>
                </a:lnSpc>
              </a:pPr>
            </a:p>
          </p:txBody>
        </p:sp>
      </p:grpSp>
      <p:sp>
        <p:nvSpPr>
          <p:cNvPr name="Freeform 8" id="8"/>
          <p:cNvSpPr/>
          <p:nvPr/>
        </p:nvSpPr>
        <p:spPr>
          <a:xfrm flipH="false" flipV="false" rot="0">
            <a:off x="134790" y="7995736"/>
            <a:ext cx="2859612" cy="2291264"/>
          </a:xfrm>
          <a:custGeom>
            <a:avLst/>
            <a:gdLst/>
            <a:ahLst/>
            <a:cxnLst/>
            <a:rect r="r" b="b" t="t" l="l"/>
            <a:pathLst>
              <a:path h="2291264" w="2859612">
                <a:moveTo>
                  <a:pt x="0" y="0"/>
                </a:moveTo>
                <a:lnTo>
                  <a:pt x="2859612" y="0"/>
                </a:lnTo>
                <a:lnTo>
                  <a:pt x="2859612" y="2291264"/>
                </a:lnTo>
                <a:lnTo>
                  <a:pt x="0" y="2291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5352292" y="0"/>
            <a:ext cx="2935708" cy="2352236"/>
          </a:xfrm>
          <a:custGeom>
            <a:avLst/>
            <a:gdLst/>
            <a:ahLst/>
            <a:cxnLst/>
            <a:rect r="r" b="b" t="t" l="l"/>
            <a:pathLst>
              <a:path h="2352236" w="2935708">
                <a:moveTo>
                  <a:pt x="2935708" y="0"/>
                </a:moveTo>
                <a:lnTo>
                  <a:pt x="0" y="0"/>
                </a:lnTo>
                <a:lnTo>
                  <a:pt x="0" y="2352236"/>
                </a:lnTo>
                <a:lnTo>
                  <a:pt x="2935708" y="2352236"/>
                </a:lnTo>
                <a:lnTo>
                  <a:pt x="293570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906711" y="4172405"/>
            <a:ext cx="7077433" cy="5406453"/>
          </a:xfrm>
          <a:custGeom>
            <a:avLst/>
            <a:gdLst/>
            <a:ahLst/>
            <a:cxnLst/>
            <a:rect r="r" b="b" t="t" l="l"/>
            <a:pathLst>
              <a:path h="5406453" w="7077433">
                <a:moveTo>
                  <a:pt x="0" y="0"/>
                </a:moveTo>
                <a:lnTo>
                  <a:pt x="7077433" y="0"/>
                </a:lnTo>
                <a:lnTo>
                  <a:pt x="7077433" y="5406453"/>
                </a:lnTo>
                <a:lnTo>
                  <a:pt x="0" y="5406453"/>
                </a:lnTo>
                <a:lnTo>
                  <a:pt x="0" y="0"/>
                </a:lnTo>
                <a:close/>
              </a:path>
            </a:pathLst>
          </a:custGeom>
          <a:blipFill>
            <a:blip r:embed="rId4"/>
            <a:stretch>
              <a:fillRect l="0" t="-3724" r="0" b="0"/>
            </a:stretch>
          </a:blipFill>
        </p:spPr>
      </p:sp>
      <p:sp>
        <p:nvSpPr>
          <p:cNvPr name="TextBox 11" id="11"/>
          <p:cNvSpPr txBox="true"/>
          <p:nvPr/>
        </p:nvSpPr>
        <p:spPr>
          <a:xfrm rot="0">
            <a:off x="909598" y="2501178"/>
            <a:ext cx="8675559" cy="3981238"/>
          </a:xfrm>
          <a:prstGeom prst="rect">
            <a:avLst/>
          </a:prstGeom>
        </p:spPr>
        <p:txBody>
          <a:bodyPr anchor="t" rtlCol="false" tIns="0" lIns="0" bIns="0" rIns="0">
            <a:spAutoFit/>
          </a:bodyPr>
          <a:lstStyle/>
          <a:p>
            <a:pPr algn="ctr">
              <a:lnSpc>
                <a:spcPts val="3161"/>
              </a:lnSpc>
            </a:pPr>
            <a:r>
              <a:rPr lang="en-US" sz="2258">
                <a:solidFill>
                  <a:srgbClr val="2E2D2D"/>
                </a:solidFill>
                <a:latin typeface="Canva Sans"/>
                <a:ea typeface="Canva Sans"/>
                <a:cs typeface="Canva Sans"/>
                <a:sym typeface="Canva Sans"/>
              </a:rPr>
              <a:t>The DICE-based expression recognition mo</a:t>
            </a:r>
            <a:r>
              <a:rPr lang="en-US" sz="2258">
                <a:solidFill>
                  <a:srgbClr val="2E2D2D"/>
                </a:solidFill>
                <a:latin typeface="Canva Sans"/>
                <a:ea typeface="Canva Sans"/>
                <a:cs typeface="Canva Sans"/>
                <a:sym typeface="Canva Sans"/>
              </a:rPr>
              <a:t>del achieved a peak accuracy of ~</a:t>
            </a:r>
            <a:r>
              <a:rPr lang="en-US" b="true" sz="2258">
                <a:solidFill>
                  <a:srgbClr val="2E2D2D"/>
                </a:solidFill>
                <a:latin typeface="Canva Sans Bold"/>
                <a:ea typeface="Canva Sans Bold"/>
                <a:cs typeface="Canva Sans Bold"/>
                <a:sym typeface="Canva Sans Bold"/>
              </a:rPr>
              <a:t>99.5% of train set</a:t>
            </a:r>
            <a:r>
              <a:rPr lang="en-US" sz="2258">
                <a:solidFill>
                  <a:srgbClr val="2E2D2D"/>
                </a:solidFill>
                <a:latin typeface="Canva Sans"/>
                <a:ea typeface="Canva Sans"/>
                <a:cs typeface="Canva Sans"/>
                <a:sym typeface="Canva Sans"/>
              </a:rPr>
              <a:t> and </a:t>
            </a:r>
            <a:r>
              <a:rPr lang="en-US" b="true" sz="2258">
                <a:solidFill>
                  <a:srgbClr val="2E2D2D"/>
                </a:solidFill>
                <a:latin typeface="Canva Sans Bold"/>
                <a:ea typeface="Canva Sans Bold"/>
                <a:cs typeface="Canva Sans Bold"/>
                <a:sym typeface="Canva Sans Bold"/>
              </a:rPr>
              <a:t>&gt;90% of test set</a:t>
            </a:r>
            <a:r>
              <a:rPr lang="en-US" sz="2258">
                <a:solidFill>
                  <a:srgbClr val="2E2D2D"/>
                </a:solidFill>
                <a:latin typeface="Canva Sans"/>
                <a:ea typeface="Canva Sans"/>
                <a:cs typeface="Canva Sans"/>
                <a:sym typeface="Canva Sans"/>
              </a:rPr>
              <a:t> on </a:t>
            </a:r>
            <a:r>
              <a:rPr lang="en-US" sz="2258">
                <a:solidFill>
                  <a:srgbClr val="2E2D2D"/>
                </a:solidFill>
                <a:latin typeface="Canva Sans"/>
                <a:ea typeface="Canva Sans"/>
                <a:cs typeface="Canva Sans"/>
                <a:sym typeface="Canva Sans"/>
              </a:rPr>
              <a:t>seven-class</a:t>
            </a:r>
            <a:r>
              <a:rPr lang="en-US" sz="2258">
                <a:solidFill>
                  <a:srgbClr val="2E2D2D"/>
                </a:solidFill>
                <a:latin typeface="Canva Sans"/>
                <a:ea typeface="Canva Sans"/>
                <a:cs typeface="Canva Sans"/>
                <a:sym typeface="Canva Sans"/>
              </a:rPr>
              <a:t> facial expression datasets. Through staged training and mutual information minimization, the model effectively disentangled identity from expression features.</a:t>
            </a:r>
            <a:r>
              <a:rPr lang="en-US" b="true" sz="2258">
                <a:solidFill>
                  <a:srgbClr val="2E2D2D"/>
                </a:solidFill>
                <a:latin typeface="Canva Sans Bold"/>
                <a:ea typeface="Canva Sans Bold"/>
                <a:cs typeface="Canva Sans Bold"/>
                <a:sym typeface="Canva Sans Bold"/>
              </a:rPr>
              <a:t> t-SNE</a:t>
            </a:r>
            <a:r>
              <a:rPr lang="en-US" sz="2258">
                <a:solidFill>
                  <a:srgbClr val="2E2D2D"/>
                </a:solidFill>
                <a:latin typeface="Canva Sans"/>
                <a:ea typeface="Canva Sans"/>
                <a:cs typeface="Canva Sans"/>
                <a:sym typeface="Canva Sans"/>
              </a:rPr>
              <a:t> visualizations showed clear expression-wise clustering with minor confusion between similar emotions like fear and surprise. Sample predictions demonstrated accurate and consistent classification across identities, validating the effectiveness of the disentanglement approach.</a:t>
            </a:r>
          </a:p>
        </p:txBody>
      </p:sp>
      <p:sp>
        <p:nvSpPr>
          <p:cNvPr name="TextBox 12" id="12"/>
          <p:cNvSpPr txBox="true"/>
          <p:nvPr/>
        </p:nvSpPr>
        <p:spPr>
          <a:xfrm rot="0">
            <a:off x="4043866" y="-24318"/>
            <a:ext cx="10057400" cy="1561572"/>
          </a:xfrm>
          <a:prstGeom prst="rect">
            <a:avLst/>
          </a:prstGeom>
        </p:spPr>
        <p:txBody>
          <a:bodyPr anchor="t" rtlCol="false" tIns="0" lIns="0" bIns="0" rIns="0">
            <a:spAutoFit/>
          </a:bodyPr>
          <a:lstStyle/>
          <a:p>
            <a:pPr algn="ctr">
              <a:lnSpc>
                <a:spcPts val="12647"/>
              </a:lnSpc>
            </a:pPr>
            <a:r>
              <a:rPr lang="en-US" sz="9034">
                <a:solidFill>
                  <a:srgbClr val="2E2D2D"/>
                </a:solidFill>
                <a:latin typeface="Squada One"/>
                <a:ea typeface="Squada One"/>
                <a:cs typeface="Squada One"/>
                <a:sym typeface="Squada One"/>
              </a:rPr>
              <a:t>Outcomes and Results</a:t>
            </a:r>
          </a:p>
        </p:txBody>
      </p:sp>
      <p:grpSp>
        <p:nvGrpSpPr>
          <p:cNvPr name="Group 13" id="13"/>
          <p:cNvGrpSpPr/>
          <p:nvPr/>
        </p:nvGrpSpPr>
        <p:grpSpPr>
          <a:xfrm rot="0">
            <a:off x="12929759" y="3060497"/>
            <a:ext cx="3362672" cy="679639"/>
            <a:chOff x="0" y="0"/>
            <a:chExt cx="885642" cy="179000"/>
          </a:xfrm>
        </p:grpSpPr>
        <p:sp>
          <p:nvSpPr>
            <p:cNvPr name="Freeform 14" id="14"/>
            <p:cNvSpPr/>
            <p:nvPr/>
          </p:nvSpPr>
          <p:spPr>
            <a:xfrm flipH="false" flipV="false" rot="0">
              <a:off x="0" y="0"/>
              <a:ext cx="885642" cy="179000"/>
            </a:xfrm>
            <a:custGeom>
              <a:avLst/>
              <a:gdLst/>
              <a:ahLst/>
              <a:cxnLst/>
              <a:rect r="r" b="b" t="t" l="l"/>
              <a:pathLst>
                <a:path h="179000" w="885642">
                  <a:moveTo>
                    <a:pt x="89500" y="0"/>
                  </a:moveTo>
                  <a:lnTo>
                    <a:pt x="796142" y="0"/>
                  </a:lnTo>
                  <a:cubicBezTo>
                    <a:pt x="845572" y="0"/>
                    <a:pt x="885642" y="40070"/>
                    <a:pt x="885642" y="89500"/>
                  </a:cubicBezTo>
                  <a:lnTo>
                    <a:pt x="885642" y="89500"/>
                  </a:lnTo>
                  <a:cubicBezTo>
                    <a:pt x="885642" y="113237"/>
                    <a:pt x="876213" y="136001"/>
                    <a:pt x="859428" y="152786"/>
                  </a:cubicBezTo>
                  <a:cubicBezTo>
                    <a:pt x="842644" y="169570"/>
                    <a:pt x="819879" y="179000"/>
                    <a:pt x="796142" y="179000"/>
                  </a:cubicBezTo>
                  <a:lnTo>
                    <a:pt x="89500" y="179000"/>
                  </a:lnTo>
                  <a:cubicBezTo>
                    <a:pt x="40070" y="179000"/>
                    <a:pt x="0" y="138929"/>
                    <a:pt x="0" y="89500"/>
                  </a:cubicBezTo>
                  <a:lnTo>
                    <a:pt x="0" y="89500"/>
                  </a:lnTo>
                  <a:cubicBezTo>
                    <a:pt x="0" y="40070"/>
                    <a:pt x="40070" y="0"/>
                    <a:pt x="89500" y="0"/>
                  </a:cubicBezTo>
                  <a:close/>
                </a:path>
              </a:pathLst>
            </a:custGeom>
            <a:solidFill>
              <a:srgbClr val="F1F5F8"/>
            </a:solidFill>
          </p:spPr>
        </p:sp>
        <p:sp>
          <p:nvSpPr>
            <p:cNvPr name="TextBox 15" id="15"/>
            <p:cNvSpPr txBox="true"/>
            <p:nvPr/>
          </p:nvSpPr>
          <p:spPr>
            <a:xfrm>
              <a:off x="0" y="-57150"/>
              <a:ext cx="885642" cy="236150"/>
            </a:xfrm>
            <a:prstGeom prst="rect">
              <a:avLst/>
            </a:prstGeom>
          </p:spPr>
          <p:txBody>
            <a:bodyPr anchor="ctr" rtlCol="false" tIns="50800" lIns="50800" bIns="50800" rIns="50800"/>
            <a:lstStyle/>
            <a:p>
              <a:pPr algn="ctr">
                <a:lnSpc>
                  <a:spcPts val="4059"/>
                </a:lnSpc>
              </a:pPr>
              <a:r>
                <a:rPr lang="en-US" b="true" sz="2899">
                  <a:solidFill>
                    <a:srgbClr val="000000"/>
                  </a:solidFill>
                  <a:latin typeface="Open Sans Bold"/>
                  <a:ea typeface="Open Sans Bold"/>
                  <a:cs typeface="Open Sans Bold"/>
                  <a:sym typeface="Open Sans Bold"/>
                </a:rPr>
                <a:t>Confusion matrix</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E2D2D"/>
        </a:solidFill>
      </p:bgPr>
    </p:bg>
    <p:spTree>
      <p:nvGrpSpPr>
        <p:cNvPr id="1" name=""/>
        <p:cNvGrpSpPr/>
        <p:nvPr/>
      </p:nvGrpSpPr>
      <p:grpSpPr>
        <a:xfrm>
          <a:off x="0" y="0"/>
          <a:ext cx="0" cy="0"/>
          <a:chOff x="0" y="0"/>
          <a:chExt cx="0" cy="0"/>
        </a:xfrm>
      </p:grpSpPr>
      <p:grpSp>
        <p:nvGrpSpPr>
          <p:cNvPr name="Group 2" id="2"/>
          <p:cNvGrpSpPr/>
          <p:nvPr/>
        </p:nvGrpSpPr>
        <p:grpSpPr>
          <a:xfrm rot="0">
            <a:off x="2793599" y="383056"/>
            <a:ext cx="12700803" cy="5218056"/>
            <a:chOff x="0" y="0"/>
            <a:chExt cx="16934404" cy="6957407"/>
          </a:xfrm>
        </p:grpSpPr>
        <p:grpSp>
          <p:nvGrpSpPr>
            <p:cNvPr name="Group 3" id="3"/>
            <p:cNvGrpSpPr/>
            <p:nvPr/>
          </p:nvGrpSpPr>
          <p:grpSpPr>
            <a:xfrm rot="0">
              <a:off x="346127" y="587270"/>
              <a:ext cx="16588277" cy="6370137"/>
              <a:chOff x="0" y="0"/>
              <a:chExt cx="2843087" cy="1091787"/>
            </a:xfrm>
          </p:grpSpPr>
          <p:sp>
            <p:nvSpPr>
              <p:cNvPr name="Freeform 4" id="4"/>
              <p:cNvSpPr/>
              <p:nvPr/>
            </p:nvSpPr>
            <p:spPr>
              <a:xfrm flipH="false" flipV="false" rot="0">
                <a:off x="0" y="0"/>
                <a:ext cx="2843088" cy="1091786"/>
              </a:xfrm>
              <a:custGeom>
                <a:avLst/>
                <a:gdLst/>
                <a:ahLst/>
                <a:cxnLst/>
                <a:rect r="r" b="b" t="t" l="l"/>
                <a:pathLst>
                  <a:path h="1091786" w="2843088">
                    <a:moveTo>
                      <a:pt x="30492" y="0"/>
                    </a:moveTo>
                    <a:lnTo>
                      <a:pt x="2812596" y="0"/>
                    </a:lnTo>
                    <a:cubicBezTo>
                      <a:pt x="2820683" y="0"/>
                      <a:pt x="2828438" y="3213"/>
                      <a:pt x="2834157" y="8931"/>
                    </a:cubicBezTo>
                    <a:cubicBezTo>
                      <a:pt x="2839875" y="14649"/>
                      <a:pt x="2843088" y="22405"/>
                      <a:pt x="2843088" y="30492"/>
                    </a:cubicBezTo>
                    <a:lnTo>
                      <a:pt x="2843088" y="1061295"/>
                    </a:lnTo>
                    <a:cubicBezTo>
                      <a:pt x="2843088" y="1069382"/>
                      <a:pt x="2839875" y="1077137"/>
                      <a:pt x="2834157" y="1082856"/>
                    </a:cubicBezTo>
                    <a:cubicBezTo>
                      <a:pt x="2828438" y="1088574"/>
                      <a:pt x="2820683" y="1091786"/>
                      <a:pt x="2812596" y="1091786"/>
                    </a:cubicBezTo>
                    <a:lnTo>
                      <a:pt x="30492" y="1091786"/>
                    </a:lnTo>
                    <a:cubicBezTo>
                      <a:pt x="22405" y="1091786"/>
                      <a:pt x="14649" y="1088574"/>
                      <a:pt x="8931" y="1082856"/>
                    </a:cubicBezTo>
                    <a:cubicBezTo>
                      <a:pt x="3213" y="1077137"/>
                      <a:pt x="0" y="1069382"/>
                      <a:pt x="0" y="1061295"/>
                    </a:cubicBezTo>
                    <a:lnTo>
                      <a:pt x="0" y="30492"/>
                    </a:lnTo>
                    <a:cubicBezTo>
                      <a:pt x="0" y="22405"/>
                      <a:pt x="3213" y="14649"/>
                      <a:pt x="8931" y="8931"/>
                    </a:cubicBezTo>
                    <a:cubicBezTo>
                      <a:pt x="14649" y="3213"/>
                      <a:pt x="22405" y="0"/>
                      <a:pt x="30492" y="0"/>
                    </a:cubicBezTo>
                    <a:close/>
                  </a:path>
                </a:pathLst>
              </a:custGeom>
              <a:solidFill>
                <a:srgbClr val="FAB574"/>
              </a:solidFill>
              <a:ln w="38100" cap="rnd">
                <a:solidFill>
                  <a:srgbClr val="2E2D2D"/>
                </a:solidFill>
                <a:prstDash val="solid"/>
                <a:round/>
              </a:ln>
            </p:spPr>
          </p:sp>
          <p:sp>
            <p:nvSpPr>
              <p:cNvPr name="TextBox 5" id="5"/>
              <p:cNvSpPr txBox="true"/>
              <p:nvPr/>
            </p:nvSpPr>
            <p:spPr>
              <a:xfrm>
                <a:off x="0" y="-38100"/>
                <a:ext cx="2843087" cy="1129887"/>
              </a:xfrm>
              <a:prstGeom prst="rect">
                <a:avLst/>
              </a:prstGeom>
            </p:spPr>
            <p:txBody>
              <a:bodyPr anchor="ctr" rtlCol="false" tIns="45140" lIns="45140" bIns="45140" rIns="45140"/>
              <a:lstStyle/>
              <a:p>
                <a:pPr algn="ctr">
                  <a:lnSpc>
                    <a:spcPts val="2659"/>
                  </a:lnSpc>
                </a:pPr>
              </a:p>
            </p:txBody>
          </p:sp>
        </p:grpSp>
        <p:grpSp>
          <p:nvGrpSpPr>
            <p:cNvPr name="Group 6" id="6"/>
            <p:cNvGrpSpPr/>
            <p:nvPr/>
          </p:nvGrpSpPr>
          <p:grpSpPr>
            <a:xfrm rot="0">
              <a:off x="0" y="463254"/>
              <a:ext cx="16588277" cy="6370137"/>
              <a:chOff x="0" y="0"/>
              <a:chExt cx="2843087" cy="1091787"/>
            </a:xfrm>
          </p:grpSpPr>
          <p:sp>
            <p:nvSpPr>
              <p:cNvPr name="Freeform 7" id="7"/>
              <p:cNvSpPr/>
              <p:nvPr/>
            </p:nvSpPr>
            <p:spPr>
              <a:xfrm flipH="false" flipV="false" rot="0">
                <a:off x="0" y="0"/>
                <a:ext cx="2843088" cy="1091786"/>
              </a:xfrm>
              <a:custGeom>
                <a:avLst/>
                <a:gdLst/>
                <a:ahLst/>
                <a:cxnLst/>
                <a:rect r="r" b="b" t="t" l="l"/>
                <a:pathLst>
                  <a:path h="1091786" w="2843088">
                    <a:moveTo>
                      <a:pt x="30492" y="0"/>
                    </a:moveTo>
                    <a:lnTo>
                      <a:pt x="2812596" y="0"/>
                    </a:lnTo>
                    <a:cubicBezTo>
                      <a:pt x="2820683" y="0"/>
                      <a:pt x="2828438" y="3213"/>
                      <a:pt x="2834157" y="8931"/>
                    </a:cubicBezTo>
                    <a:cubicBezTo>
                      <a:pt x="2839875" y="14649"/>
                      <a:pt x="2843088" y="22405"/>
                      <a:pt x="2843088" y="30492"/>
                    </a:cubicBezTo>
                    <a:lnTo>
                      <a:pt x="2843088" y="1061295"/>
                    </a:lnTo>
                    <a:cubicBezTo>
                      <a:pt x="2843088" y="1069382"/>
                      <a:pt x="2839875" y="1077137"/>
                      <a:pt x="2834157" y="1082856"/>
                    </a:cubicBezTo>
                    <a:cubicBezTo>
                      <a:pt x="2828438" y="1088574"/>
                      <a:pt x="2820683" y="1091786"/>
                      <a:pt x="2812596" y="1091786"/>
                    </a:cubicBezTo>
                    <a:lnTo>
                      <a:pt x="30492" y="1091786"/>
                    </a:lnTo>
                    <a:cubicBezTo>
                      <a:pt x="22405" y="1091786"/>
                      <a:pt x="14649" y="1088574"/>
                      <a:pt x="8931" y="1082856"/>
                    </a:cubicBezTo>
                    <a:cubicBezTo>
                      <a:pt x="3213" y="1077137"/>
                      <a:pt x="0" y="1069382"/>
                      <a:pt x="0" y="1061295"/>
                    </a:cubicBezTo>
                    <a:lnTo>
                      <a:pt x="0" y="30492"/>
                    </a:lnTo>
                    <a:cubicBezTo>
                      <a:pt x="0" y="22405"/>
                      <a:pt x="3213" y="14649"/>
                      <a:pt x="8931" y="8931"/>
                    </a:cubicBezTo>
                    <a:cubicBezTo>
                      <a:pt x="14649" y="3213"/>
                      <a:pt x="22405" y="0"/>
                      <a:pt x="30492" y="0"/>
                    </a:cubicBezTo>
                    <a:close/>
                  </a:path>
                </a:pathLst>
              </a:custGeom>
              <a:solidFill>
                <a:srgbClr val="F1F5F8"/>
              </a:solidFill>
              <a:ln w="38100" cap="rnd">
                <a:solidFill>
                  <a:srgbClr val="2E2D2D"/>
                </a:solidFill>
                <a:prstDash val="solid"/>
                <a:round/>
              </a:ln>
            </p:spPr>
          </p:sp>
          <p:sp>
            <p:nvSpPr>
              <p:cNvPr name="TextBox 8" id="8"/>
              <p:cNvSpPr txBox="true"/>
              <p:nvPr/>
            </p:nvSpPr>
            <p:spPr>
              <a:xfrm>
                <a:off x="0" y="-38100"/>
                <a:ext cx="2843087" cy="1129887"/>
              </a:xfrm>
              <a:prstGeom prst="rect">
                <a:avLst/>
              </a:prstGeom>
            </p:spPr>
            <p:txBody>
              <a:bodyPr anchor="ctr" rtlCol="false" tIns="45140" lIns="45140" bIns="45140" rIns="45140"/>
              <a:lstStyle/>
              <a:p>
                <a:pPr algn="ctr">
                  <a:lnSpc>
                    <a:spcPts val="2659"/>
                  </a:lnSpc>
                </a:pPr>
              </a:p>
            </p:txBody>
          </p:sp>
        </p:grpSp>
        <p:sp>
          <p:nvSpPr>
            <p:cNvPr name="TextBox 9" id="9"/>
            <p:cNvSpPr txBox="true"/>
            <p:nvPr/>
          </p:nvSpPr>
          <p:spPr>
            <a:xfrm rot="0">
              <a:off x="4516232" y="329904"/>
              <a:ext cx="7901940" cy="1352550"/>
            </a:xfrm>
            <a:prstGeom prst="rect">
              <a:avLst/>
            </a:prstGeom>
          </p:spPr>
          <p:txBody>
            <a:bodyPr anchor="t" rtlCol="false" tIns="0" lIns="0" bIns="0" rIns="0">
              <a:spAutoFit/>
            </a:bodyPr>
            <a:lstStyle/>
            <a:p>
              <a:pPr algn="ctr">
                <a:lnSpc>
                  <a:spcPts val="8400"/>
                </a:lnSpc>
              </a:pPr>
              <a:r>
                <a:rPr lang="en-US" sz="6000">
                  <a:solidFill>
                    <a:srgbClr val="2E2D2D"/>
                  </a:solidFill>
                  <a:latin typeface="Squada One"/>
                  <a:ea typeface="Squada One"/>
                  <a:cs typeface="Squada One"/>
                  <a:sym typeface="Squada One"/>
                </a:rPr>
                <a:t>Challenges</a:t>
              </a:r>
            </a:p>
          </p:txBody>
        </p:sp>
        <p:grpSp>
          <p:nvGrpSpPr>
            <p:cNvPr name="Group 10" id="10"/>
            <p:cNvGrpSpPr/>
            <p:nvPr/>
          </p:nvGrpSpPr>
          <p:grpSpPr>
            <a:xfrm rot="0">
              <a:off x="10685410" y="0"/>
              <a:ext cx="1891708" cy="189170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2D2D"/>
              </a:solidFill>
            </p:spPr>
          </p:sp>
          <p:sp>
            <p:nvSpPr>
              <p:cNvPr name="TextBox 12" id="12"/>
              <p:cNvSpPr txBox="true"/>
              <p:nvPr/>
            </p:nvSpPr>
            <p:spPr>
              <a:xfrm>
                <a:off x="76200" y="38100"/>
                <a:ext cx="660400" cy="698500"/>
              </a:xfrm>
              <a:prstGeom prst="rect">
                <a:avLst/>
              </a:prstGeom>
            </p:spPr>
            <p:txBody>
              <a:bodyPr anchor="ctr" rtlCol="false" tIns="39519" lIns="39519" bIns="39519" rIns="39519"/>
              <a:lstStyle/>
              <a:p>
                <a:pPr algn="ctr">
                  <a:lnSpc>
                    <a:spcPts val="2660"/>
                  </a:lnSpc>
                </a:pPr>
              </a:p>
            </p:txBody>
          </p:sp>
        </p:grpSp>
        <p:sp>
          <p:nvSpPr>
            <p:cNvPr name="Freeform 13" id="13"/>
            <p:cNvSpPr/>
            <p:nvPr/>
          </p:nvSpPr>
          <p:spPr>
            <a:xfrm flipH="false" flipV="false" rot="0">
              <a:off x="11050462" y="365053"/>
              <a:ext cx="1161603" cy="1161603"/>
            </a:xfrm>
            <a:custGeom>
              <a:avLst/>
              <a:gdLst/>
              <a:ahLst/>
              <a:cxnLst/>
              <a:rect r="r" b="b" t="t" l="l"/>
              <a:pathLst>
                <a:path h="1161603" w="1161603">
                  <a:moveTo>
                    <a:pt x="0" y="0"/>
                  </a:moveTo>
                  <a:lnTo>
                    <a:pt x="1161603" y="0"/>
                  </a:lnTo>
                  <a:lnTo>
                    <a:pt x="1161603" y="1161602"/>
                  </a:lnTo>
                  <a:lnTo>
                    <a:pt x="0" y="1161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612341" y="2498489"/>
              <a:ext cx="15709721" cy="3140709"/>
            </a:xfrm>
            <a:prstGeom prst="rect">
              <a:avLst/>
            </a:prstGeom>
          </p:spPr>
          <p:txBody>
            <a:bodyPr anchor="t" rtlCol="false" tIns="0" lIns="0" bIns="0" rIns="0">
              <a:spAutoFit/>
            </a:bodyPr>
            <a:lstStyle/>
            <a:p>
              <a:pPr algn="l" marL="582933" indent="-291467" lvl="1">
                <a:lnSpc>
                  <a:spcPts val="3780"/>
                </a:lnSpc>
                <a:buFont typeface="Arial"/>
                <a:buChar char="•"/>
              </a:pPr>
              <a:r>
                <a:rPr lang="en-US" sz="2700">
                  <a:solidFill>
                    <a:srgbClr val="1C2120"/>
                  </a:solidFill>
                  <a:latin typeface="Canva Sans"/>
                  <a:ea typeface="Canva Sans"/>
                  <a:cs typeface="Canva Sans"/>
                  <a:sym typeface="Canva Sans"/>
                </a:rPr>
                <a:t>Faced difficulty implementing and stabilizing mutual information minimization using Deep InfoMax-style discriminators.</a:t>
              </a:r>
            </a:p>
            <a:p>
              <a:pPr algn="l" marL="582933" indent="-291467" lvl="1">
                <a:lnSpc>
                  <a:spcPts val="3780"/>
                </a:lnSpc>
                <a:buFont typeface="Arial"/>
                <a:buChar char="•"/>
              </a:pPr>
              <a:r>
                <a:rPr lang="en-US" sz="2700">
                  <a:solidFill>
                    <a:srgbClr val="1C2120"/>
                  </a:solidFill>
                  <a:latin typeface="Canva Sans"/>
                  <a:ea typeface="Canva Sans"/>
                  <a:cs typeface="Canva Sans"/>
                  <a:sym typeface="Canva Sans"/>
                </a:rPr>
                <a:t>Had to manually curate and preprocess a custom facial expression dataset due to limited access to standard datasets.</a:t>
              </a:r>
            </a:p>
            <a:p>
              <a:pPr algn="l">
                <a:lnSpc>
                  <a:spcPts val="3780"/>
                </a:lnSpc>
              </a:pPr>
            </a:p>
          </p:txBody>
        </p:sp>
      </p:grpSp>
      <p:grpSp>
        <p:nvGrpSpPr>
          <p:cNvPr name="Group 15" id="15"/>
          <p:cNvGrpSpPr/>
          <p:nvPr/>
        </p:nvGrpSpPr>
        <p:grpSpPr>
          <a:xfrm rot="0">
            <a:off x="2793599" y="5893991"/>
            <a:ext cx="12700803" cy="3364309"/>
            <a:chOff x="0" y="0"/>
            <a:chExt cx="16934404" cy="4485745"/>
          </a:xfrm>
        </p:grpSpPr>
        <p:grpSp>
          <p:nvGrpSpPr>
            <p:cNvPr name="Group 16" id="16"/>
            <p:cNvGrpSpPr/>
            <p:nvPr/>
          </p:nvGrpSpPr>
          <p:grpSpPr>
            <a:xfrm rot="0">
              <a:off x="346127" y="530821"/>
              <a:ext cx="16588277" cy="3954924"/>
              <a:chOff x="0" y="0"/>
              <a:chExt cx="2843087" cy="677840"/>
            </a:xfrm>
          </p:grpSpPr>
          <p:sp>
            <p:nvSpPr>
              <p:cNvPr name="Freeform 17" id="17"/>
              <p:cNvSpPr/>
              <p:nvPr/>
            </p:nvSpPr>
            <p:spPr>
              <a:xfrm flipH="false" flipV="false" rot="0">
                <a:off x="0" y="0"/>
                <a:ext cx="2843088" cy="677840"/>
              </a:xfrm>
              <a:custGeom>
                <a:avLst/>
                <a:gdLst/>
                <a:ahLst/>
                <a:cxnLst/>
                <a:rect r="r" b="b" t="t" l="l"/>
                <a:pathLst>
                  <a:path h="677840" w="2843088">
                    <a:moveTo>
                      <a:pt x="30492" y="0"/>
                    </a:moveTo>
                    <a:lnTo>
                      <a:pt x="2812596" y="0"/>
                    </a:lnTo>
                    <a:cubicBezTo>
                      <a:pt x="2820683" y="0"/>
                      <a:pt x="2828438" y="3213"/>
                      <a:pt x="2834157" y="8931"/>
                    </a:cubicBezTo>
                    <a:cubicBezTo>
                      <a:pt x="2839875" y="14649"/>
                      <a:pt x="2843088" y="22405"/>
                      <a:pt x="2843088" y="30492"/>
                    </a:cubicBezTo>
                    <a:lnTo>
                      <a:pt x="2843088" y="647348"/>
                    </a:lnTo>
                    <a:cubicBezTo>
                      <a:pt x="2843088" y="655435"/>
                      <a:pt x="2839875" y="663191"/>
                      <a:pt x="2834157" y="668909"/>
                    </a:cubicBezTo>
                    <a:cubicBezTo>
                      <a:pt x="2828438" y="674627"/>
                      <a:pt x="2820683" y="677840"/>
                      <a:pt x="2812596" y="677840"/>
                    </a:cubicBezTo>
                    <a:lnTo>
                      <a:pt x="30492" y="677840"/>
                    </a:lnTo>
                    <a:cubicBezTo>
                      <a:pt x="22405" y="677840"/>
                      <a:pt x="14649" y="674627"/>
                      <a:pt x="8931" y="668909"/>
                    </a:cubicBezTo>
                    <a:cubicBezTo>
                      <a:pt x="3213" y="663191"/>
                      <a:pt x="0" y="655435"/>
                      <a:pt x="0" y="647348"/>
                    </a:cubicBezTo>
                    <a:lnTo>
                      <a:pt x="0" y="30492"/>
                    </a:lnTo>
                    <a:cubicBezTo>
                      <a:pt x="0" y="22405"/>
                      <a:pt x="3213" y="14649"/>
                      <a:pt x="8931" y="8931"/>
                    </a:cubicBezTo>
                    <a:cubicBezTo>
                      <a:pt x="14649" y="3213"/>
                      <a:pt x="22405" y="0"/>
                      <a:pt x="30492" y="0"/>
                    </a:cubicBezTo>
                    <a:close/>
                  </a:path>
                </a:pathLst>
              </a:custGeom>
              <a:solidFill>
                <a:srgbClr val="FAB574"/>
              </a:solidFill>
              <a:ln w="38100" cap="rnd">
                <a:solidFill>
                  <a:srgbClr val="2E2D2D"/>
                </a:solidFill>
                <a:prstDash val="solid"/>
                <a:round/>
              </a:ln>
            </p:spPr>
          </p:sp>
          <p:sp>
            <p:nvSpPr>
              <p:cNvPr name="TextBox 18" id="18"/>
              <p:cNvSpPr txBox="true"/>
              <p:nvPr/>
            </p:nvSpPr>
            <p:spPr>
              <a:xfrm>
                <a:off x="0" y="-38100"/>
                <a:ext cx="2843087" cy="715940"/>
              </a:xfrm>
              <a:prstGeom prst="rect">
                <a:avLst/>
              </a:prstGeom>
            </p:spPr>
            <p:txBody>
              <a:bodyPr anchor="ctr" rtlCol="false" tIns="45140" lIns="45140" bIns="45140" rIns="45140"/>
              <a:lstStyle/>
              <a:p>
                <a:pPr algn="ctr">
                  <a:lnSpc>
                    <a:spcPts val="2659"/>
                  </a:lnSpc>
                </a:pPr>
              </a:p>
            </p:txBody>
          </p:sp>
        </p:grpSp>
        <p:grpSp>
          <p:nvGrpSpPr>
            <p:cNvPr name="Group 19" id="19"/>
            <p:cNvGrpSpPr/>
            <p:nvPr/>
          </p:nvGrpSpPr>
          <p:grpSpPr>
            <a:xfrm rot="0">
              <a:off x="0" y="453825"/>
              <a:ext cx="16588277" cy="3954924"/>
              <a:chOff x="0" y="0"/>
              <a:chExt cx="2843087" cy="677840"/>
            </a:xfrm>
          </p:grpSpPr>
          <p:sp>
            <p:nvSpPr>
              <p:cNvPr name="Freeform 20" id="20"/>
              <p:cNvSpPr/>
              <p:nvPr/>
            </p:nvSpPr>
            <p:spPr>
              <a:xfrm flipH="false" flipV="false" rot="0">
                <a:off x="0" y="0"/>
                <a:ext cx="2843088" cy="677840"/>
              </a:xfrm>
              <a:custGeom>
                <a:avLst/>
                <a:gdLst/>
                <a:ahLst/>
                <a:cxnLst/>
                <a:rect r="r" b="b" t="t" l="l"/>
                <a:pathLst>
                  <a:path h="677840" w="2843088">
                    <a:moveTo>
                      <a:pt x="30492" y="0"/>
                    </a:moveTo>
                    <a:lnTo>
                      <a:pt x="2812596" y="0"/>
                    </a:lnTo>
                    <a:cubicBezTo>
                      <a:pt x="2820683" y="0"/>
                      <a:pt x="2828438" y="3213"/>
                      <a:pt x="2834157" y="8931"/>
                    </a:cubicBezTo>
                    <a:cubicBezTo>
                      <a:pt x="2839875" y="14649"/>
                      <a:pt x="2843088" y="22405"/>
                      <a:pt x="2843088" y="30492"/>
                    </a:cubicBezTo>
                    <a:lnTo>
                      <a:pt x="2843088" y="647348"/>
                    </a:lnTo>
                    <a:cubicBezTo>
                      <a:pt x="2843088" y="655435"/>
                      <a:pt x="2839875" y="663191"/>
                      <a:pt x="2834157" y="668909"/>
                    </a:cubicBezTo>
                    <a:cubicBezTo>
                      <a:pt x="2828438" y="674627"/>
                      <a:pt x="2820683" y="677840"/>
                      <a:pt x="2812596" y="677840"/>
                    </a:cubicBezTo>
                    <a:lnTo>
                      <a:pt x="30492" y="677840"/>
                    </a:lnTo>
                    <a:cubicBezTo>
                      <a:pt x="22405" y="677840"/>
                      <a:pt x="14649" y="674627"/>
                      <a:pt x="8931" y="668909"/>
                    </a:cubicBezTo>
                    <a:cubicBezTo>
                      <a:pt x="3213" y="663191"/>
                      <a:pt x="0" y="655435"/>
                      <a:pt x="0" y="647348"/>
                    </a:cubicBezTo>
                    <a:lnTo>
                      <a:pt x="0" y="30492"/>
                    </a:lnTo>
                    <a:cubicBezTo>
                      <a:pt x="0" y="22405"/>
                      <a:pt x="3213" y="14649"/>
                      <a:pt x="8931" y="8931"/>
                    </a:cubicBezTo>
                    <a:cubicBezTo>
                      <a:pt x="14649" y="3213"/>
                      <a:pt x="22405" y="0"/>
                      <a:pt x="30492" y="0"/>
                    </a:cubicBezTo>
                    <a:close/>
                  </a:path>
                </a:pathLst>
              </a:custGeom>
              <a:solidFill>
                <a:srgbClr val="F1F5F8"/>
              </a:solidFill>
              <a:ln w="38100" cap="rnd">
                <a:solidFill>
                  <a:srgbClr val="2E2D2D"/>
                </a:solidFill>
                <a:prstDash val="solid"/>
                <a:round/>
              </a:ln>
            </p:spPr>
          </p:sp>
          <p:sp>
            <p:nvSpPr>
              <p:cNvPr name="TextBox 21" id="21"/>
              <p:cNvSpPr txBox="true"/>
              <p:nvPr/>
            </p:nvSpPr>
            <p:spPr>
              <a:xfrm>
                <a:off x="0" y="-38100"/>
                <a:ext cx="2843087" cy="715940"/>
              </a:xfrm>
              <a:prstGeom prst="rect">
                <a:avLst/>
              </a:prstGeom>
            </p:spPr>
            <p:txBody>
              <a:bodyPr anchor="ctr" rtlCol="false" tIns="45140" lIns="45140" bIns="45140" rIns="45140"/>
              <a:lstStyle/>
              <a:p>
                <a:pPr algn="ctr">
                  <a:lnSpc>
                    <a:spcPts val="2659"/>
                  </a:lnSpc>
                </a:pPr>
              </a:p>
            </p:txBody>
          </p:sp>
        </p:grpSp>
        <p:sp>
          <p:nvSpPr>
            <p:cNvPr name="TextBox 22" id="22"/>
            <p:cNvSpPr txBox="true"/>
            <p:nvPr/>
          </p:nvSpPr>
          <p:spPr>
            <a:xfrm rot="0">
              <a:off x="4218507" y="549075"/>
              <a:ext cx="7901940" cy="1123950"/>
            </a:xfrm>
            <a:prstGeom prst="rect">
              <a:avLst/>
            </a:prstGeom>
          </p:spPr>
          <p:txBody>
            <a:bodyPr anchor="t" rtlCol="false" tIns="0" lIns="0" bIns="0" rIns="0">
              <a:spAutoFit/>
            </a:bodyPr>
            <a:lstStyle/>
            <a:p>
              <a:pPr algn="ctr">
                <a:lnSpc>
                  <a:spcPts val="6000"/>
                </a:lnSpc>
              </a:pPr>
              <a:r>
                <a:rPr lang="en-US" sz="6000">
                  <a:solidFill>
                    <a:srgbClr val="2E2D2D"/>
                  </a:solidFill>
                  <a:latin typeface="Squada One"/>
                  <a:ea typeface="Squada One"/>
                  <a:cs typeface="Squada One"/>
                  <a:sym typeface="Squada One"/>
                </a:rPr>
                <a:t>Learnings</a:t>
              </a:r>
            </a:p>
          </p:txBody>
        </p:sp>
        <p:grpSp>
          <p:nvGrpSpPr>
            <p:cNvPr name="Group 23" id="23"/>
            <p:cNvGrpSpPr/>
            <p:nvPr/>
          </p:nvGrpSpPr>
          <p:grpSpPr>
            <a:xfrm rot="0">
              <a:off x="10178863" y="0"/>
              <a:ext cx="1794084" cy="179408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2D2D"/>
              </a:solidFill>
            </p:spPr>
          </p:sp>
          <p:sp>
            <p:nvSpPr>
              <p:cNvPr name="TextBox 25" id="25"/>
              <p:cNvSpPr txBox="true"/>
              <p:nvPr/>
            </p:nvSpPr>
            <p:spPr>
              <a:xfrm>
                <a:off x="76200" y="38100"/>
                <a:ext cx="660400" cy="698500"/>
              </a:xfrm>
              <a:prstGeom prst="rect">
                <a:avLst/>
              </a:prstGeom>
            </p:spPr>
            <p:txBody>
              <a:bodyPr anchor="ctr" rtlCol="false" tIns="37480" lIns="37480" bIns="37480" rIns="37480"/>
              <a:lstStyle/>
              <a:p>
                <a:pPr algn="ctr">
                  <a:lnSpc>
                    <a:spcPts val="2660"/>
                  </a:lnSpc>
                </a:pPr>
              </a:p>
            </p:txBody>
          </p:sp>
        </p:grpSp>
        <p:sp>
          <p:nvSpPr>
            <p:cNvPr name="Freeform 26" id="26"/>
            <p:cNvSpPr/>
            <p:nvPr/>
          </p:nvSpPr>
          <p:spPr>
            <a:xfrm flipH="false" flipV="false" rot="0">
              <a:off x="10411649" y="379753"/>
              <a:ext cx="1328512" cy="1034578"/>
            </a:xfrm>
            <a:custGeom>
              <a:avLst/>
              <a:gdLst/>
              <a:ahLst/>
              <a:cxnLst/>
              <a:rect r="r" b="b" t="t" l="l"/>
              <a:pathLst>
                <a:path h="1034578" w="1328512">
                  <a:moveTo>
                    <a:pt x="0" y="0"/>
                  </a:moveTo>
                  <a:lnTo>
                    <a:pt x="1328512" y="0"/>
                  </a:lnTo>
                  <a:lnTo>
                    <a:pt x="1328512" y="1034578"/>
                  </a:lnTo>
                  <a:lnTo>
                    <a:pt x="0" y="10345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1689304" y="1746459"/>
              <a:ext cx="13555795" cy="2348790"/>
            </a:xfrm>
            <a:prstGeom prst="rect">
              <a:avLst/>
            </a:prstGeom>
          </p:spPr>
          <p:txBody>
            <a:bodyPr anchor="t" rtlCol="false" tIns="0" lIns="0" bIns="0" rIns="0">
              <a:spAutoFit/>
            </a:bodyPr>
            <a:lstStyle/>
            <a:p>
              <a:pPr algn="ctr">
                <a:lnSpc>
                  <a:spcPts val="3573"/>
                </a:lnSpc>
              </a:pPr>
              <a:r>
                <a:rPr lang="en-US" sz="2552">
                  <a:solidFill>
                    <a:srgbClr val="000000"/>
                  </a:solidFill>
                  <a:latin typeface="Canva Sans"/>
                  <a:ea typeface="Canva Sans"/>
                  <a:cs typeface="Canva Sans"/>
                  <a:sym typeface="Canva Sans"/>
                </a:rPr>
                <a:t>Through this project, we gaine</a:t>
              </a:r>
              <a:r>
                <a:rPr lang="en-US" sz="2552">
                  <a:solidFill>
                    <a:srgbClr val="000000"/>
                  </a:solidFill>
                  <a:latin typeface="Canva Sans"/>
                  <a:ea typeface="Canva Sans"/>
                  <a:cs typeface="Canva Sans"/>
                  <a:sym typeface="Canva Sans"/>
                </a:rPr>
                <a:t>d hands-on experience with representation learning, encoder-decoder architectures, and the practical value of disentangled features in improving generalization for facial expression recognition.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B574"/>
        </a:solidFill>
      </p:bgPr>
    </p:bg>
    <p:spTree>
      <p:nvGrpSpPr>
        <p:cNvPr id="1" name=""/>
        <p:cNvGrpSpPr/>
        <p:nvPr/>
      </p:nvGrpSpPr>
      <p:grpSpPr>
        <a:xfrm>
          <a:off x="0" y="0"/>
          <a:ext cx="0" cy="0"/>
          <a:chOff x="0" y="0"/>
          <a:chExt cx="0" cy="0"/>
        </a:xfrm>
      </p:grpSpPr>
      <p:grpSp>
        <p:nvGrpSpPr>
          <p:cNvPr name="Group 2" id="2"/>
          <p:cNvGrpSpPr/>
          <p:nvPr/>
        </p:nvGrpSpPr>
        <p:grpSpPr>
          <a:xfrm rot="0">
            <a:off x="2900468" y="2389486"/>
            <a:ext cx="12786037" cy="5974890"/>
            <a:chOff x="0" y="0"/>
            <a:chExt cx="17048050" cy="7966520"/>
          </a:xfrm>
        </p:grpSpPr>
        <p:grpSp>
          <p:nvGrpSpPr>
            <p:cNvPr name="Group 3" id="3"/>
            <p:cNvGrpSpPr/>
            <p:nvPr/>
          </p:nvGrpSpPr>
          <p:grpSpPr>
            <a:xfrm rot="0">
              <a:off x="264123" y="264123"/>
              <a:ext cx="16783927" cy="7702397"/>
              <a:chOff x="0" y="0"/>
              <a:chExt cx="2550621" cy="1170518"/>
            </a:xfrm>
          </p:grpSpPr>
          <p:sp>
            <p:nvSpPr>
              <p:cNvPr name="Freeform 4" id="4"/>
              <p:cNvSpPr/>
              <p:nvPr/>
            </p:nvSpPr>
            <p:spPr>
              <a:xfrm flipH="false" flipV="false" rot="0">
                <a:off x="0" y="0"/>
                <a:ext cx="2550621" cy="1170518"/>
              </a:xfrm>
              <a:custGeom>
                <a:avLst/>
                <a:gdLst/>
                <a:ahLst/>
                <a:cxnLst/>
                <a:rect r="r" b="b" t="t" l="l"/>
                <a:pathLst>
                  <a:path h="1170518" w="2550621">
                    <a:moveTo>
                      <a:pt x="39172" y="0"/>
                    </a:moveTo>
                    <a:lnTo>
                      <a:pt x="2511449" y="0"/>
                    </a:lnTo>
                    <a:cubicBezTo>
                      <a:pt x="2533083" y="0"/>
                      <a:pt x="2550621" y="17538"/>
                      <a:pt x="2550621" y="39172"/>
                    </a:cubicBezTo>
                    <a:lnTo>
                      <a:pt x="2550621" y="1131347"/>
                    </a:lnTo>
                    <a:cubicBezTo>
                      <a:pt x="2550621" y="1152981"/>
                      <a:pt x="2533083" y="1170518"/>
                      <a:pt x="2511449" y="1170518"/>
                    </a:cubicBezTo>
                    <a:lnTo>
                      <a:pt x="39172" y="1170518"/>
                    </a:lnTo>
                    <a:cubicBezTo>
                      <a:pt x="28783" y="1170518"/>
                      <a:pt x="18819" y="1166391"/>
                      <a:pt x="11473" y="1159045"/>
                    </a:cubicBezTo>
                    <a:cubicBezTo>
                      <a:pt x="4127" y="1151699"/>
                      <a:pt x="0" y="1141736"/>
                      <a:pt x="0" y="1131347"/>
                    </a:cubicBezTo>
                    <a:lnTo>
                      <a:pt x="0" y="39172"/>
                    </a:lnTo>
                    <a:cubicBezTo>
                      <a:pt x="0" y="17538"/>
                      <a:pt x="17538" y="0"/>
                      <a:pt x="39172" y="0"/>
                    </a:cubicBezTo>
                    <a:close/>
                  </a:path>
                </a:pathLst>
              </a:custGeom>
              <a:solidFill>
                <a:srgbClr val="2E2D2D"/>
              </a:solidFill>
              <a:ln w="38100" cap="rnd">
                <a:solidFill>
                  <a:srgbClr val="2E2D2D"/>
                </a:solidFill>
                <a:prstDash val="solid"/>
                <a:round/>
              </a:ln>
            </p:spPr>
          </p:sp>
          <p:sp>
            <p:nvSpPr>
              <p:cNvPr name="TextBox 5" id="5"/>
              <p:cNvSpPr txBox="true"/>
              <p:nvPr/>
            </p:nvSpPr>
            <p:spPr>
              <a:xfrm>
                <a:off x="0" y="-38100"/>
                <a:ext cx="2550621" cy="12086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0"/>
              <a:ext cx="16783927" cy="7702397"/>
              <a:chOff x="0" y="0"/>
              <a:chExt cx="2550621" cy="1170518"/>
            </a:xfrm>
          </p:grpSpPr>
          <p:sp>
            <p:nvSpPr>
              <p:cNvPr name="Freeform 7" id="7"/>
              <p:cNvSpPr/>
              <p:nvPr/>
            </p:nvSpPr>
            <p:spPr>
              <a:xfrm flipH="false" flipV="false" rot="0">
                <a:off x="0" y="0"/>
                <a:ext cx="2550621" cy="1170518"/>
              </a:xfrm>
              <a:custGeom>
                <a:avLst/>
                <a:gdLst/>
                <a:ahLst/>
                <a:cxnLst/>
                <a:rect r="r" b="b" t="t" l="l"/>
                <a:pathLst>
                  <a:path h="1170518" w="2550621">
                    <a:moveTo>
                      <a:pt x="39172" y="0"/>
                    </a:moveTo>
                    <a:lnTo>
                      <a:pt x="2511449" y="0"/>
                    </a:lnTo>
                    <a:cubicBezTo>
                      <a:pt x="2533083" y="0"/>
                      <a:pt x="2550621" y="17538"/>
                      <a:pt x="2550621" y="39172"/>
                    </a:cubicBezTo>
                    <a:lnTo>
                      <a:pt x="2550621" y="1131347"/>
                    </a:lnTo>
                    <a:cubicBezTo>
                      <a:pt x="2550621" y="1152981"/>
                      <a:pt x="2533083" y="1170518"/>
                      <a:pt x="2511449" y="1170518"/>
                    </a:cubicBezTo>
                    <a:lnTo>
                      <a:pt x="39172" y="1170518"/>
                    </a:lnTo>
                    <a:cubicBezTo>
                      <a:pt x="28783" y="1170518"/>
                      <a:pt x="18819" y="1166391"/>
                      <a:pt x="11473" y="1159045"/>
                    </a:cubicBezTo>
                    <a:cubicBezTo>
                      <a:pt x="4127" y="1151699"/>
                      <a:pt x="0" y="1141736"/>
                      <a:pt x="0" y="1131347"/>
                    </a:cubicBezTo>
                    <a:lnTo>
                      <a:pt x="0" y="39172"/>
                    </a:lnTo>
                    <a:cubicBezTo>
                      <a:pt x="0" y="17538"/>
                      <a:pt x="17538" y="0"/>
                      <a:pt x="39172" y="0"/>
                    </a:cubicBezTo>
                    <a:close/>
                  </a:path>
                </a:pathLst>
              </a:custGeom>
              <a:solidFill>
                <a:srgbClr val="F1F5F8"/>
              </a:solidFill>
              <a:ln w="38100" cap="rnd">
                <a:solidFill>
                  <a:srgbClr val="2E2D2D"/>
                </a:solidFill>
                <a:prstDash val="solid"/>
                <a:round/>
              </a:ln>
            </p:spPr>
          </p:sp>
          <p:sp>
            <p:nvSpPr>
              <p:cNvPr name="TextBox 8" id="8"/>
              <p:cNvSpPr txBox="true"/>
              <p:nvPr/>
            </p:nvSpPr>
            <p:spPr>
              <a:xfrm>
                <a:off x="0" y="-38100"/>
                <a:ext cx="2550621" cy="1208618"/>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598003" y="1086787"/>
              <a:ext cx="13587921" cy="5543568"/>
            </a:xfrm>
            <a:prstGeom prst="rect">
              <a:avLst/>
            </a:prstGeom>
          </p:spPr>
          <p:txBody>
            <a:bodyPr anchor="t" rtlCol="false" tIns="0" lIns="0" bIns="0" rIns="0">
              <a:spAutoFit/>
            </a:bodyPr>
            <a:lstStyle/>
            <a:p>
              <a:pPr algn="ctr">
                <a:lnSpc>
                  <a:spcPts val="4199"/>
                </a:lnSpc>
                <a:spcBef>
                  <a:spcPct val="0"/>
                </a:spcBef>
              </a:pPr>
              <a:r>
                <a:rPr lang="en-US" sz="2999">
                  <a:solidFill>
                    <a:srgbClr val="2E2D2D"/>
                  </a:solidFill>
                  <a:latin typeface="Glacial Indifference"/>
                  <a:ea typeface="Glacial Indifference"/>
                  <a:cs typeface="Glacial Indifference"/>
                  <a:sym typeface="Glacial Indifference"/>
                </a:rPr>
                <a:t>This project successfully implemented the DICE framework to address identity bias in facial expression recognition. By disentangling identity and expression features through staged training and mutual information minimization, the model achieved improved accuracy and generalization. The results highlight the value of representation disentanglement in building more robust and identity-invariant FER systems, especially when working with limited or custom datasets.</a:t>
              </a:r>
            </a:p>
          </p:txBody>
        </p:sp>
      </p:grpSp>
      <p:sp>
        <p:nvSpPr>
          <p:cNvPr name="Freeform 10" id="10"/>
          <p:cNvSpPr/>
          <p:nvPr/>
        </p:nvSpPr>
        <p:spPr>
          <a:xfrm flipH="false" flipV="false" rot="0">
            <a:off x="15394914" y="7809795"/>
            <a:ext cx="2893086" cy="2477205"/>
          </a:xfrm>
          <a:custGeom>
            <a:avLst/>
            <a:gdLst/>
            <a:ahLst/>
            <a:cxnLst/>
            <a:rect r="r" b="b" t="t" l="l"/>
            <a:pathLst>
              <a:path h="2477205" w="2893086">
                <a:moveTo>
                  <a:pt x="0" y="0"/>
                </a:moveTo>
                <a:lnTo>
                  <a:pt x="2893086" y="0"/>
                </a:lnTo>
                <a:lnTo>
                  <a:pt x="2893086" y="2477205"/>
                </a:lnTo>
                <a:lnTo>
                  <a:pt x="0" y="2477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3994236" y="396214"/>
            <a:ext cx="10299529" cy="1708151"/>
          </a:xfrm>
          <a:prstGeom prst="rect">
            <a:avLst/>
          </a:prstGeom>
        </p:spPr>
        <p:txBody>
          <a:bodyPr anchor="t" rtlCol="false" tIns="0" lIns="0" bIns="0" rIns="0">
            <a:spAutoFit/>
          </a:bodyPr>
          <a:lstStyle/>
          <a:p>
            <a:pPr algn="ctr">
              <a:lnSpc>
                <a:spcPts val="13999"/>
              </a:lnSpc>
            </a:pPr>
            <a:r>
              <a:rPr lang="en-US" sz="9999">
                <a:solidFill>
                  <a:srgbClr val="2E2D2D"/>
                </a:solidFill>
                <a:latin typeface="Squada One"/>
                <a:ea typeface="Squada One"/>
                <a:cs typeface="Squada One"/>
                <a:sym typeface="Squada One"/>
              </a:rPr>
              <a:t>Conclusion</a:t>
            </a:r>
          </a:p>
        </p:txBody>
      </p:sp>
      <p:sp>
        <p:nvSpPr>
          <p:cNvPr name="Freeform 12" id="12"/>
          <p:cNvSpPr/>
          <p:nvPr/>
        </p:nvSpPr>
        <p:spPr>
          <a:xfrm flipH="true" flipV="false" rot="0">
            <a:off x="0" y="0"/>
            <a:ext cx="2790641" cy="2389486"/>
          </a:xfrm>
          <a:custGeom>
            <a:avLst/>
            <a:gdLst/>
            <a:ahLst/>
            <a:cxnLst/>
            <a:rect r="r" b="b" t="t" l="l"/>
            <a:pathLst>
              <a:path h="2389486" w="2790641">
                <a:moveTo>
                  <a:pt x="2790641" y="0"/>
                </a:moveTo>
                <a:lnTo>
                  <a:pt x="0" y="0"/>
                </a:lnTo>
                <a:lnTo>
                  <a:pt x="0" y="2389486"/>
                </a:lnTo>
                <a:lnTo>
                  <a:pt x="2790641" y="2389486"/>
                </a:lnTo>
                <a:lnTo>
                  <a:pt x="27906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5F8"/>
        </a:solidFill>
      </p:bgPr>
    </p:bg>
    <p:spTree>
      <p:nvGrpSpPr>
        <p:cNvPr id="1" name=""/>
        <p:cNvGrpSpPr/>
        <p:nvPr/>
      </p:nvGrpSpPr>
      <p:grpSpPr>
        <a:xfrm>
          <a:off x="0" y="0"/>
          <a:ext cx="0" cy="0"/>
          <a:chOff x="0" y="0"/>
          <a:chExt cx="0" cy="0"/>
        </a:xfrm>
      </p:grpSpPr>
      <p:grpSp>
        <p:nvGrpSpPr>
          <p:cNvPr name="Group 2" id="2"/>
          <p:cNvGrpSpPr/>
          <p:nvPr/>
        </p:nvGrpSpPr>
        <p:grpSpPr>
          <a:xfrm rot="0">
            <a:off x="993023" y="1181100"/>
            <a:ext cx="16418677" cy="8229600"/>
            <a:chOff x="0" y="0"/>
            <a:chExt cx="4324260" cy="2167467"/>
          </a:xfrm>
        </p:grpSpPr>
        <p:sp>
          <p:nvSpPr>
            <p:cNvPr name="Freeform 3" id="3"/>
            <p:cNvSpPr/>
            <p:nvPr/>
          </p:nvSpPr>
          <p:spPr>
            <a:xfrm flipH="false" flipV="false" rot="0">
              <a:off x="0" y="0"/>
              <a:ext cx="4324260" cy="2167467"/>
            </a:xfrm>
            <a:custGeom>
              <a:avLst/>
              <a:gdLst/>
              <a:ahLst/>
              <a:cxnLst/>
              <a:rect r="r" b="b" t="t" l="l"/>
              <a:pathLst>
                <a:path h="2167467" w="4324260">
                  <a:moveTo>
                    <a:pt x="23105" y="0"/>
                  </a:moveTo>
                  <a:lnTo>
                    <a:pt x="4301155" y="0"/>
                  </a:lnTo>
                  <a:cubicBezTo>
                    <a:pt x="4307283" y="0"/>
                    <a:pt x="4313160" y="2434"/>
                    <a:pt x="4317493" y="6767"/>
                  </a:cubicBezTo>
                  <a:cubicBezTo>
                    <a:pt x="4321826" y="11100"/>
                    <a:pt x="4324260" y="16977"/>
                    <a:pt x="4324260" y="23105"/>
                  </a:cubicBezTo>
                  <a:lnTo>
                    <a:pt x="4324260" y="2144362"/>
                  </a:lnTo>
                  <a:cubicBezTo>
                    <a:pt x="4324260" y="2157122"/>
                    <a:pt x="4313916" y="2167467"/>
                    <a:pt x="4301155" y="2167467"/>
                  </a:cubicBezTo>
                  <a:lnTo>
                    <a:pt x="23105" y="2167467"/>
                  </a:lnTo>
                  <a:cubicBezTo>
                    <a:pt x="16977" y="2167467"/>
                    <a:pt x="11100" y="2165032"/>
                    <a:pt x="6767" y="2160700"/>
                  </a:cubicBezTo>
                  <a:cubicBezTo>
                    <a:pt x="2434" y="2156366"/>
                    <a:pt x="0" y="2150489"/>
                    <a:pt x="0" y="2144362"/>
                  </a:cubicBezTo>
                  <a:lnTo>
                    <a:pt x="0" y="23105"/>
                  </a:lnTo>
                  <a:cubicBezTo>
                    <a:pt x="0" y="16977"/>
                    <a:pt x="2434" y="11100"/>
                    <a:pt x="6767" y="6767"/>
                  </a:cubicBezTo>
                  <a:cubicBezTo>
                    <a:pt x="11100" y="2434"/>
                    <a:pt x="16977" y="0"/>
                    <a:pt x="23105" y="0"/>
                  </a:cubicBezTo>
                  <a:close/>
                </a:path>
              </a:pathLst>
            </a:custGeom>
            <a:solidFill>
              <a:srgbClr val="2E2D2D"/>
            </a:solidFill>
            <a:ln w="38100" cap="rnd">
              <a:solidFill>
                <a:srgbClr val="2E2D2D"/>
              </a:solidFill>
              <a:prstDash val="solid"/>
              <a:round/>
            </a:ln>
          </p:spPr>
        </p:sp>
        <p:sp>
          <p:nvSpPr>
            <p:cNvPr name="TextBox 4" id="4"/>
            <p:cNvSpPr txBox="true"/>
            <p:nvPr/>
          </p:nvSpPr>
          <p:spPr>
            <a:xfrm>
              <a:off x="0" y="-38100"/>
              <a:ext cx="4324260" cy="22055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40623" y="1028700"/>
            <a:ext cx="16418677" cy="8229600"/>
            <a:chOff x="0" y="0"/>
            <a:chExt cx="4324260" cy="2167467"/>
          </a:xfrm>
        </p:grpSpPr>
        <p:sp>
          <p:nvSpPr>
            <p:cNvPr name="Freeform 6" id="6"/>
            <p:cNvSpPr/>
            <p:nvPr/>
          </p:nvSpPr>
          <p:spPr>
            <a:xfrm flipH="false" flipV="false" rot="0">
              <a:off x="0" y="0"/>
              <a:ext cx="4324260" cy="2167467"/>
            </a:xfrm>
            <a:custGeom>
              <a:avLst/>
              <a:gdLst/>
              <a:ahLst/>
              <a:cxnLst/>
              <a:rect r="r" b="b" t="t" l="l"/>
              <a:pathLst>
                <a:path h="2167467" w="4324260">
                  <a:moveTo>
                    <a:pt x="23105" y="0"/>
                  </a:moveTo>
                  <a:lnTo>
                    <a:pt x="4301155" y="0"/>
                  </a:lnTo>
                  <a:cubicBezTo>
                    <a:pt x="4307283" y="0"/>
                    <a:pt x="4313160" y="2434"/>
                    <a:pt x="4317493" y="6767"/>
                  </a:cubicBezTo>
                  <a:cubicBezTo>
                    <a:pt x="4321826" y="11100"/>
                    <a:pt x="4324260" y="16977"/>
                    <a:pt x="4324260" y="23105"/>
                  </a:cubicBezTo>
                  <a:lnTo>
                    <a:pt x="4324260" y="2144362"/>
                  </a:lnTo>
                  <a:cubicBezTo>
                    <a:pt x="4324260" y="2157122"/>
                    <a:pt x="4313916" y="2167467"/>
                    <a:pt x="4301155" y="2167467"/>
                  </a:cubicBezTo>
                  <a:lnTo>
                    <a:pt x="23105" y="2167467"/>
                  </a:lnTo>
                  <a:cubicBezTo>
                    <a:pt x="16977" y="2167467"/>
                    <a:pt x="11100" y="2165032"/>
                    <a:pt x="6767" y="2160700"/>
                  </a:cubicBezTo>
                  <a:cubicBezTo>
                    <a:pt x="2434" y="2156366"/>
                    <a:pt x="0" y="2150489"/>
                    <a:pt x="0" y="2144362"/>
                  </a:cubicBezTo>
                  <a:lnTo>
                    <a:pt x="0" y="23105"/>
                  </a:lnTo>
                  <a:cubicBezTo>
                    <a:pt x="0" y="16977"/>
                    <a:pt x="2434" y="11100"/>
                    <a:pt x="6767" y="6767"/>
                  </a:cubicBezTo>
                  <a:cubicBezTo>
                    <a:pt x="11100" y="2434"/>
                    <a:pt x="16977" y="0"/>
                    <a:pt x="23105" y="0"/>
                  </a:cubicBezTo>
                  <a:close/>
                </a:path>
              </a:pathLst>
            </a:custGeom>
            <a:solidFill>
              <a:srgbClr val="FAB574"/>
            </a:solidFill>
            <a:ln w="38100" cap="rnd">
              <a:solidFill>
                <a:srgbClr val="2E2D2D"/>
              </a:solidFill>
              <a:prstDash val="solid"/>
              <a:round/>
            </a:ln>
          </p:spPr>
        </p:sp>
        <p:sp>
          <p:nvSpPr>
            <p:cNvPr name="TextBox 7" id="7"/>
            <p:cNvSpPr txBox="true"/>
            <p:nvPr/>
          </p:nvSpPr>
          <p:spPr>
            <a:xfrm>
              <a:off x="0" y="-38100"/>
              <a:ext cx="4324260" cy="22055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false" rot="0">
            <a:off x="1596121" y="1731508"/>
            <a:ext cx="8611040" cy="6910359"/>
          </a:xfrm>
          <a:custGeom>
            <a:avLst/>
            <a:gdLst/>
            <a:ahLst/>
            <a:cxnLst/>
            <a:rect r="r" b="b" t="t" l="l"/>
            <a:pathLst>
              <a:path h="6910359" w="8611040">
                <a:moveTo>
                  <a:pt x="8611040" y="0"/>
                </a:moveTo>
                <a:lnTo>
                  <a:pt x="0" y="0"/>
                </a:lnTo>
                <a:lnTo>
                  <a:pt x="0" y="6910360"/>
                </a:lnTo>
                <a:lnTo>
                  <a:pt x="8611040" y="6910360"/>
                </a:lnTo>
                <a:lnTo>
                  <a:pt x="861104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957674" y="2792779"/>
            <a:ext cx="5113099" cy="4706272"/>
          </a:xfrm>
          <a:prstGeom prst="rect">
            <a:avLst/>
          </a:prstGeom>
        </p:spPr>
        <p:txBody>
          <a:bodyPr anchor="t" rtlCol="false" tIns="0" lIns="0" bIns="0" rIns="0">
            <a:spAutoFit/>
          </a:bodyPr>
          <a:lstStyle/>
          <a:p>
            <a:pPr algn="ctr">
              <a:lnSpc>
                <a:spcPts val="18849"/>
              </a:lnSpc>
            </a:pPr>
            <a:r>
              <a:rPr lang="en-US" sz="13463">
                <a:solidFill>
                  <a:srgbClr val="2E2D2D"/>
                </a:solidFill>
                <a:latin typeface="Squada One"/>
                <a:ea typeface="Squada One"/>
                <a:cs typeface="Squada One"/>
                <a:sym typeface="Squada On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DAGsG1zmhz0</dc:identifier>
  <dcterms:modified xsi:type="dcterms:W3CDTF">2011-08-01T06:04:30Z</dcterms:modified>
  <cp:revision>1</cp:revision>
  <dc:title>Blue Minimalist Project Presentation</dc:title>
</cp:coreProperties>
</file>